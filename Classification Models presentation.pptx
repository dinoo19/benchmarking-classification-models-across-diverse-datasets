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notesMasterIdLst>
    <p:notesMasterId r:id="rId22"/>
  </p:notesMasterIdLst>
  <p:sldIdLst>
    <p:sldId id="256" r:id="rId2"/>
    <p:sldId id="265" r:id="rId3"/>
    <p:sldId id="266" r:id="rId4"/>
    <p:sldId id="267" r:id="rId5"/>
    <p:sldId id="268" r:id="rId6"/>
    <p:sldId id="269" r:id="rId7"/>
    <p:sldId id="261" r:id="rId8"/>
    <p:sldId id="274" r:id="rId9"/>
    <p:sldId id="272" r:id="rId10"/>
    <p:sldId id="273" r:id="rId11"/>
    <p:sldId id="284" r:id="rId12"/>
    <p:sldId id="285" r:id="rId13"/>
    <p:sldId id="277" r:id="rId14"/>
    <p:sldId id="278" r:id="rId15"/>
    <p:sldId id="279" r:id="rId16"/>
    <p:sldId id="281" r:id="rId17"/>
    <p:sldId id="280" r:id="rId18"/>
    <p:sldId id="282" r:id="rId19"/>
    <p:sldId id="276" r:id="rId20"/>
    <p:sldId id="28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4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593977-0C77-4851-942F-22B48033E29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82A33B-F9D7-4BD7-B635-54F06B791FE1}">
      <dgm:prSet/>
      <dgm:spPr/>
      <dgm:t>
        <a:bodyPr/>
        <a:lstStyle/>
        <a:p>
          <a:r>
            <a:rPr lang="en-US" dirty="0"/>
            <a:t>LDA (Linear Discriminant Analysis)</a:t>
          </a:r>
        </a:p>
      </dgm:t>
    </dgm:pt>
    <dgm:pt modelId="{D7817DF4-D212-4F40-93E7-74891AFA918F}" type="parTrans" cxnId="{E2555CB5-6985-41EA-A9D4-B09DA1C297FD}">
      <dgm:prSet/>
      <dgm:spPr/>
      <dgm:t>
        <a:bodyPr/>
        <a:lstStyle/>
        <a:p>
          <a:endParaRPr lang="en-US"/>
        </a:p>
      </dgm:t>
    </dgm:pt>
    <dgm:pt modelId="{C54D31C7-B16F-4B25-BD89-4EED5A18BC00}" type="sibTrans" cxnId="{E2555CB5-6985-41EA-A9D4-B09DA1C297FD}">
      <dgm:prSet/>
      <dgm:spPr/>
      <dgm:t>
        <a:bodyPr/>
        <a:lstStyle/>
        <a:p>
          <a:endParaRPr lang="en-US"/>
        </a:p>
      </dgm:t>
    </dgm:pt>
    <dgm:pt modelId="{12806437-4F47-45B5-876F-C360234FEE17}">
      <dgm:prSet/>
      <dgm:spPr/>
      <dgm:t>
        <a:bodyPr/>
        <a:lstStyle/>
        <a:p>
          <a:pPr rtl="0"/>
          <a:r>
            <a:rPr lang="en-US" dirty="0"/>
            <a:t>SVM</a:t>
          </a:r>
          <a:r>
            <a:rPr lang="en-US" dirty="0">
              <a:latin typeface="Century Gothic" panose="020B0502020202020204"/>
            </a:rPr>
            <a:t>(Support Vector Machine)</a:t>
          </a:r>
          <a:endParaRPr lang="en-US" dirty="0"/>
        </a:p>
      </dgm:t>
    </dgm:pt>
    <dgm:pt modelId="{C284E688-0A7B-4561-9D0B-D7E219165275}" type="parTrans" cxnId="{8C57F6C4-6E72-416B-B393-88F1AC44672F}">
      <dgm:prSet/>
      <dgm:spPr/>
      <dgm:t>
        <a:bodyPr/>
        <a:lstStyle/>
        <a:p>
          <a:endParaRPr lang="en-US"/>
        </a:p>
      </dgm:t>
    </dgm:pt>
    <dgm:pt modelId="{FC6BEF44-6F95-4E89-A4B6-C3D18B86136B}" type="sibTrans" cxnId="{8C57F6C4-6E72-416B-B393-88F1AC44672F}">
      <dgm:prSet/>
      <dgm:spPr/>
      <dgm:t>
        <a:bodyPr/>
        <a:lstStyle/>
        <a:p>
          <a:endParaRPr lang="en-US"/>
        </a:p>
      </dgm:t>
    </dgm:pt>
    <dgm:pt modelId="{4BC1DD22-BDF5-40C3-9C70-1B942D1F7D8C}">
      <dgm:prSet/>
      <dgm:spPr/>
      <dgm:t>
        <a:bodyPr/>
        <a:lstStyle/>
        <a:p>
          <a:r>
            <a:rPr lang="en-US" dirty="0"/>
            <a:t> </a:t>
          </a:r>
          <a:r>
            <a:rPr lang="en-US" dirty="0" err="1"/>
            <a:t>bsnsing</a:t>
          </a:r>
          <a:r>
            <a:rPr lang="en-US" dirty="0"/>
            <a:t>(): Boolean Sensing Decision Tree</a:t>
          </a:r>
          <a:endParaRPr lang="en-US" dirty="0">
            <a:ln>
              <a:solidFill>
                <a:schemeClr val="lt1">
                  <a:hueOff val="0"/>
                  <a:satOff val="0"/>
                  <a:lumOff val="0"/>
                </a:schemeClr>
              </a:solidFill>
            </a:ln>
          </a:endParaRPr>
        </a:p>
      </dgm:t>
    </dgm:pt>
    <dgm:pt modelId="{852C1447-F9C8-4D92-8BD1-6FA7A83E8682}" type="parTrans" cxnId="{37B257C8-43C3-414C-B310-58A989315855}">
      <dgm:prSet/>
      <dgm:spPr/>
      <dgm:t>
        <a:bodyPr/>
        <a:lstStyle/>
        <a:p>
          <a:endParaRPr lang="en-US"/>
        </a:p>
      </dgm:t>
    </dgm:pt>
    <dgm:pt modelId="{22452D4E-5960-4C1A-9077-5DD3D26D687A}" type="sibTrans" cxnId="{37B257C8-43C3-414C-B310-58A989315855}">
      <dgm:prSet/>
      <dgm:spPr/>
      <dgm:t>
        <a:bodyPr/>
        <a:lstStyle/>
        <a:p>
          <a:endParaRPr lang="en-US"/>
        </a:p>
      </dgm:t>
    </dgm:pt>
    <dgm:pt modelId="{AF2242BE-AB91-460E-ADF8-0DF5BBBCB548}">
      <dgm:prSet/>
      <dgm:spPr/>
      <dgm:t>
        <a:bodyPr/>
        <a:lstStyle/>
        <a:p>
          <a:r>
            <a:rPr lang="en-US" dirty="0">
              <a:latin typeface="Century Gothic" panose="020B0502020202020204"/>
            </a:rPr>
            <a:t>Random</a:t>
          </a:r>
          <a:r>
            <a:rPr lang="en-US" dirty="0"/>
            <a:t> Forest</a:t>
          </a:r>
        </a:p>
      </dgm:t>
    </dgm:pt>
    <dgm:pt modelId="{B857577F-B605-4D45-9261-457A1B364CC7}" type="parTrans" cxnId="{9BCDF1F9-39BE-4E50-81C2-A2DD77B514AB}">
      <dgm:prSet/>
      <dgm:spPr/>
      <dgm:t>
        <a:bodyPr/>
        <a:lstStyle/>
        <a:p>
          <a:endParaRPr lang="en-US"/>
        </a:p>
      </dgm:t>
    </dgm:pt>
    <dgm:pt modelId="{DE0D8B9A-805F-4F32-920B-3C5EADB6198C}" type="sibTrans" cxnId="{9BCDF1F9-39BE-4E50-81C2-A2DD77B514AB}">
      <dgm:prSet/>
      <dgm:spPr/>
      <dgm:t>
        <a:bodyPr/>
        <a:lstStyle/>
        <a:p>
          <a:endParaRPr lang="en-US"/>
        </a:p>
      </dgm:t>
    </dgm:pt>
    <dgm:pt modelId="{3AD4E785-326C-4610-8BDD-133D7E0941BD}">
      <dgm:prSet phldr="0"/>
      <dgm:spPr/>
      <dgm:t>
        <a:bodyPr/>
        <a:lstStyle/>
        <a:p>
          <a:pPr rtl="0"/>
          <a:r>
            <a:rPr lang="en-US" dirty="0">
              <a:latin typeface="Century Gothic" panose="020B0502020202020204"/>
            </a:rPr>
            <a:t>QDA</a:t>
          </a:r>
          <a:r>
            <a:rPr lang="en-US" b="0" dirty="0">
              <a:latin typeface="Century Gothic" panose="020B0502020202020204"/>
            </a:rPr>
            <a:t>(</a:t>
          </a:r>
          <a:r>
            <a:rPr lang="en-US" b="0" dirty="0"/>
            <a:t>Quadratic Discriminant Analysis</a:t>
          </a:r>
          <a:r>
            <a:rPr lang="en-US" b="0" dirty="0">
              <a:latin typeface="Century Gothic" panose="020B0502020202020204"/>
            </a:rPr>
            <a:t>)</a:t>
          </a:r>
          <a:endParaRPr lang="en-US" b="0" dirty="0"/>
        </a:p>
      </dgm:t>
    </dgm:pt>
    <dgm:pt modelId="{908941B9-1119-4D9D-81B9-680880A8A15D}" type="parTrans" cxnId="{8DC30398-657F-40EB-9FD1-6EC5AA037A13}">
      <dgm:prSet/>
      <dgm:spPr/>
      <dgm:t>
        <a:bodyPr/>
        <a:lstStyle/>
        <a:p>
          <a:endParaRPr lang="en-US"/>
        </a:p>
      </dgm:t>
    </dgm:pt>
    <dgm:pt modelId="{7F164330-1C89-4B68-902C-F6D2224489C1}" type="sibTrans" cxnId="{8DC30398-657F-40EB-9FD1-6EC5AA037A13}">
      <dgm:prSet/>
      <dgm:spPr/>
      <dgm:t>
        <a:bodyPr/>
        <a:lstStyle/>
        <a:p>
          <a:endParaRPr lang="en-US"/>
        </a:p>
      </dgm:t>
    </dgm:pt>
    <dgm:pt modelId="{756DFE34-5D29-4530-8F6F-A96FA8ACEF89}">
      <dgm:prSet/>
      <dgm:spPr/>
      <dgm:t>
        <a:bodyPr/>
        <a:lstStyle/>
        <a:p>
          <a:r>
            <a:rPr lang="en-US" dirty="0"/>
            <a:t>(SVM)Support Vector Machine</a:t>
          </a:r>
        </a:p>
      </dgm:t>
    </dgm:pt>
    <dgm:pt modelId="{6233788E-5AE4-459A-A1EE-1DD9B8EBDF81}" type="parTrans" cxnId="{EB0B3289-8404-4556-8CB6-97EEBE62C662}">
      <dgm:prSet/>
      <dgm:spPr/>
      <dgm:t>
        <a:bodyPr/>
        <a:lstStyle/>
        <a:p>
          <a:endParaRPr lang="en-US"/>
        </a:p>
      </dgm:t>
    </dgm:pt>
    <dgm:pt modelId="{94A55BEC-71CC-4033-AF30-0F2E67D22483}" type="sibTrans" cxnId="{EB0B3289-8404-4556-8CB6-97EEBE62C662}">
      <dgm:prSet/>
      <dgm:spPr/>
      <dgm:t>
        <a:bodyPr/>
        <a:lstStyle/>
        <a:p>
          <a:endParaRPr lang="en-US"/>
        </a:p>
      </dgm:t>
    </dgm:pt>
    <dgm:pt modelId="{488A93FA-DC4C-4760-B4A2-86921BA020EC}">
      <dgm:prSet phldr="0"/>
      <dgm:spPr/>
      <dgm:t>
        <a:bodyPr/>
        <a:lstStyle/>
        <a:p>
          <a:pPr rtl="0"/>
          <a:r>
            <a:rPr lang="en-US" dirty="0"/>
            <a:t>Naïve Bayes</a:t>
          </a:r>
        </a:p>
      </dgm:t>
    </dgm:pt>
    <dgm:pt modelId="{24D7D713-BBBD-49F1-B70A-E96B62FCC0F4}" type="parTrans" cxnId="{18D10FE0-3D19-4773-A837-2F2DDFF27E21}">
      <dgm:prSet/>
      <dgm:spPr/>
      <dgm:t>
        <a:bodyPr/>
        <a:lstStyle/>
        <a:p>
          <a:endParaRPr lang="en-US"/>
        </a:p>
      </dgm:t>
    </dgm:pt>
    <dgm:pt modelId="{266B92F1-0C1C-4ED8-89A0-735D6321EE7F}" type="sibTrans" cxnId="{18D10FE0-3D19-4773-A837-2F2DDFF27E21}">
      <dgm:prSet/>
      <dgm:spPr/>
      <dgm:t>
        <a:bodyPr/>
        <a:lstStyle/>
        <a:p>
          <a:endParaRPr lang="en-US"/>
        </a:p>
      </dgm:t>
    </dgm:pt>
    <dgm:pt modelId="{DDC254D4-1BDD-4BC4-85F1-CEB04BCB1A4E}">
      <dgm:prSet/>
      <dgm:spPr/>
      <dgm:t>
        <a:bodyPr/>
        <a:lstStyle/>
        <a:p>
          <a:r>
            <a:rPr lang="en-US" dirty="0"/>
            <a:t>(GLM) Logistic Regression</a:t>
          </a:r>
        </a:p>
      </dgm:t>
    </dgm:pt>
    <dgm:pt modelId="{6A81236B-DECE-4519-9A07-4DA2328995F4}" type="sibTrans" cxnId="{F006CCAA-C1EF-4A7F-A7C0-BEC2320757DC}">
      <dgm:prSet/>
      <dgm:spPr/>
      <dgm:t>
        <a:bodyPr/>
        <a:lstStyle/>
        <a:p>
          <a:endParaRPr lang="en-US"/>
        </a:p>
      </dgm:t>
    </dgm:pt>
    <dgm:pt modelId="{EDC4EC85-6286-491E-9C51-1A0048C2734B}" type="parTrans" cxnId="{F006CCAA-C1EF-4A7F-A7C0-BEC2320757DC}">
      <dgm:prSet/>
      <dgm:spPr/>
      <dgm:t>
        <a:bodyPr/>
        <a:lstStyle/>
        <a:p>
          <a:endParaRPr lang="en-US"/>
        </a:p>
      </dgm:t>
    </dgm:pt>
    <dgm:pt modelId="{6D8BDDFA-5E3B-4318-B008-024728FE7170}" type="pres">
      <dgm:prSet presAssocID="{54593977-0C77-4851-942F-22B48033E295}" presName="diagram" presStyleCnt="0">
        <dgm:presLayoutVars>
          <dgm:dir/>
          <dgm:resizeHandles val="exact"/>
        </dgm:presLayoutVars>
      </dgm:prSet>
      <dgm:spPr/>
    </dgm:pt>
    <dgm:pt modelId="{2644A4F9-9E18-4232-BF32-2FFD62AEABFF}" type="pres">
      <dgm:prSet presAssocID="{0782A33B-F9D7-4BD7-B635-54F06B791FE1}" presName="node" presStyleLbl="node1" presStyleIdx="0" presStyleCnt="8">
        <dgm:presLayoutVars>
          <dgm:bulletEnabled val="1"/>
        </dgm:presLayoutVars>
      </dgm:prSet>
      <dgm:spPr/>
    </dgm:pt>
    <dgm:pt modelId="{1CF9B95E-C179-4555-A3E0-A2AE49161463}" type="pres">
      <dgm:prSet presAssocID="{C54D31C7-B16F-4B25-BD89-4EED5A18BC00}" presName="sibTrans" presStyleCnt="0"/>
      <dgm:spPr/>
    </dgm:pt>
    <dgm:pt modelId="{434A0017-6BB5-45C6-B60E-DBEAB89FDED1}" type="pres">
      <dgm:prSet presAssocID="{12806437-4F47-45B5-876F-C360234FEE17}" presName="node" presStyleLbl="node1" presStyleIdx="1" presStyleCnt="8">
        <dgm:presLayoutVars>
          <dgm:bulletEnabled val="1"/>
        </dgm:presLayoutVars>
      </dgm:prSet>
      <dgm:spPr/>
    </dgm:pt>
    <dgm:pt modelId="{B1C3CC9A-F474-4A49-940D-55FE3F1DA6C6}" type="pres">
      <dgm:prSet presAssocID="{FC6BEF44-6F95-4E89-A4B6-C3D18B86136B}" presName="sibTrans" presStyleCnt="0"/>
      <dgm:spPr/>
    </dgm:pt>
    <dgm:pt modelId="{53229325-C532-44D3-9FDD-AFFA05C746EC}" type="pres">
      <dgm:prSet presAssocID="{4BC1DD22-BDF5-40C3-9C70-1B942D1F7D8C}" presName="node" presStyleLbl="node1" presStyleIdx="2" presStyleCnt="8">
        <dgm:presLayoutVars>
          <dgm:bulletEnabled val="1"/>
        </dgm:presLayoutVars>
      </dgm:prSet>
      <dgm:spPr/>
    </dgm:pt>
    <dgm:pt modelId="{59DF242C-3648-4CBC-9FA3-4B2199D69904}" type="pres">
      <dgm:prSet presAssocID="{22452D4E-5960-4C1A-9077-5DD3D26D687A}" presName="sibTrans" presStyleCnt="0"/>
      <dgm:spPr/>
    </dgm:pt>
    <dgm:pt modelId="{2729112F-5318-4F13-A3B6-67FF4B823ED7}" type="pres">
      <dgm:prSet presAssocID="{DDC254D4-1BDD-4BC4-85F1-CEB04BCB1A4E}" presName="node" presStyleLbl="node1" presStyleIdx="3" presStyleCnt="8">
        <dgm:presLayoutVars>
          <dgm:bulletEnabled val="1"/>
        </dgm:presLayoutVars>
      </dgm:prSet>
      <dgm:spPr/>
    </dgm:pt>
    <dgm:pt modelId="{26BE735B-3FE7-4FE7-8086-02FD2843AB87}" type="pres">
      <dgm:prSet presAssocID="{6A81236B-DECE-4519-9A07-4DA2328995F4}" presName="sibTrans" presStyleCnt="0"/>
      <dgm:spPr/>
    </dgm:pt>
    <dgm:pt modelId="{F6C53CDD-53D9-4FC2-9EF7-E3681957C96E}" type="pres">
      <dgm:prSet presAssocID="{AF2242BE-AB91-460E-ADF8-0DF5BBBCB548}" presName="node" presStyleLbl="node1" presStyleIdx="4" presStyleCnt="8">
        <dgm:presLayoutVars>
          <dgm:bulletEnabled val="1"/>
        </dgm:presLayoutVars>
      </dgm:prSet>
      <dgm:spPr/>
    </dgm:pt>
    <dgm:pt modelId="{6C106E13-8F98-4306-87E3-128A6ACCC14F}" type="pres">
      <dgm:prSet presAssocID="{DE0D8B9A-805F-4F32-920B-3C5EADB6198C}" presName="sibTrans" presStyleCnt="0"/>
      <dgm:spPr/>
    </dgm:pt>
    <dgm:pt modelId="{D6027E92-B64C-4FB2-AD0E-A4A0FB540C45}" type="pres">
      <dgm:prSet presAssocID="{3AD4E785-326C-4610-8BDD-133D7E0941BD}" presName="node" presStyleLbl="node1" presStyleIdx="5" presStyleCnt="8">
        <dgm:presLayoutVars>
          <dgm:bulletEnabled val="1"/>
        </dgm:presLayoutVars>
      </dgm:prSet>
      <dgm:spPr/>
    </dgm:pt>
    <dgm:pt modelId="{6A5F6CC0-364B-4772-97E2-33CE04A4D207}" type="pres">
      <dgm:prSet presAssocID="{7F164330-1C89-4B68-902C-F6D2224489C1}" presName="sibTrans" presStyleCnt="0"/>
      <dgm:spPr/>
    </dgm:pt>
    <dgm:pt modelId="{21AB3D04-8544-4D3A-9B78-0176ABA8D707}" type="pres">
      <dgm:prSet presAssocID="{756DFE34-5D29-4530-8F6F-A96FA8ACEF89}" presName="node" presStyleLbl="node1" presStyleIdx="6" presStyleCnt="8">
        <dgm:presLayoutVars>
          <dgm:bulletEnabled val="1"/>
        </dgm:presLayoutVars>
      </dgm:prSet>
      <dgm:spPr/>
    </dgm:pt>
    <dgm:pt modelId="{F4426D8C-B35E-433B-A507-9808F121FD39}" type="pres">
      <dgm:prSet presAssocID="{94A55BEC-71CC-4033-AF30-0F2E67D22483}" presName="sibTrans" presStyleCnt="0"/>
      <dgm:spPr/>
    </dgm:pt>
    <dgm:pt modelId="{3A5AEC27-703C-4386-B029-1E2D5C8A9587}" type="pres">
      <dgm:prSet presAssocID="{488A93FA-DC4C-4760-B4A2-86921BA020EC}" presName="node" presStyleLbl="node1" presStyleIdx="7" presStyleCnt="8">
        <dgm:presLayoutVars>
          <dgm:bulletEnabled val="1"/>
        </dgm:presLayoutVars>
      </dgm:prSet>
      <dgm:spPr/>
    </dgm:pt>
  </dgm:ptLst>
  <dgm:cxnLst>
    <dgm:cxn modelId="{090FB911-6C03-44D6-8778-34ABF2552E7A}" type="presOf" srcId="{4BC1DD22-BDF5-40C3-9C70-1B942D1F7D8C}" destId="{53229325-C532-44D3-9FDD-AFFA05C746EC}" srcOrd="0" destOrd="0" presId="urn:microsoft.com/office/officeart/2005/8/layout/default"/>
    <dgm:cxn modelId="{1CD12512-6B5C-4955-A180-D508C096F6A3}" type="presOf" srcId="{756DFE34-5D29-4530-8F6F-A96FA8ACEF89}" destId="{21AB3D04-8544-4D3A-9B78-0176ABA8D707}" srcOrd="0" destOrd="0" presId="urn:microsoft.com/office/officeart/2005/8/layout/default"/>
    <dgm:cxn modelId="{B423E424-4950-4127-BD01-26E9EC27D1B4}" type="presOf" srcId="{DDC254D4-1BDD-4BC4-85F1-CEB04BCB1A4E}" destId="{2729112F-5318-4F13-A3B6-67FF4B823ED7}" srcOrd="0" destOrd="0" presId="urn:microsoft.com/office/officeart/2005/8/layout/default"/>
    <dgm:cxn modelId="{FEADC22B-DF4D-45F4-AD7A-120EE5948E18}" type="presOf" srcId="{AF2242BE-AB91-460E-ADF8-0DF5BBBCB548}" destId="{F6C53CDD-53D9-4FC2-9EF7-E3681957C96E}" srcOrd="0" destOrd="0" presId="urn:microsoft.com/office/officeart/2005/8/layout/default"/>
    <dgm:cxn modelId="{5969012F-C01A-40DD-91E2-E2F221F958CF}" type="presOf" srcId="{12806437-4F47-45B5-876F-C360234FEE17}" destId="{434A0017-6BB5-45C6-B60E-DBEAB89FDED1}" srcOrd="0" destOrd="0" presId="urn:microsoft.com/office/officeart/2005/8/layout/default"/>
    <dgm:cxn modelId="{74F5854D-6D08-4D49-A2D2-5921528CDDD2}" type="presOf" srcId="{3AD4E785-326C-4610-8BDD-133D7E0941BD}" destId="{D6027E92-B64C-4FB2-AD0E-A4A0FB540C45}" srcOrd="0" destOrd="0" presId="urn:microsoft.com/office/officeart/2005/8/layout/default"/>
    <dgm:cxn modelId="{B560F754-278C-429A-A074-C36E6ADD2630}" type="presOf" srcId="{488A93FA-DC4C-4760-B4A2-86921BA020EC}" destId="{3A5AEC27-703C-4386-B029-1E2D5C8A9587}" srcOrd="0" destOrd="0" presId="urn:microsoft.com/office/officeart/2005/8/layout/default"/>
    <dgm:cxn modelId="{EB0B3289-8404-4556-8CB6-97EEBE62C662}" srcId="{54593977-0C77-4851-942F-22B48033E295}" destId="{756DFE34-5D29-4530-8F6F-A96FA8ACEF89}" srcOrd="6" destOrd="0" parTransId="{6233788E-5AE4-459A-A1EE-1DD9B8EBDF81}" sibTransId="{94A55BEC-71CC-4033-AF30-0F2E67D22483}"/>
    <dgm:cxn modelId="{B98B0D92-D5E7-484D-B039-69F038DA1D8B}" type="presOf" srcId="{0782A33B-F9D7-4BD7-B635-54F06B791FE1}" destId="{2644A4F9-9E18-4232-BF32-2FFD62AEABFF}" srcOrd="0" destOrd="0" presId="urn:microsoft.com/office/officeart/2005/8/layout/default"/>
    <dgm:cxn modelId="{8DC30398-657F-40EB-9FD1-6EC5AA037A13}" srcId="{54593977-0C77-4851-942F-22B48033E295}" destId="{3AD4E785-326C-4610-8BDD-133D7E0941BD}" srcOrd="5" destOrd="0" parTransId="{908941B9-1119-4D9D-81B9-680880A8A15D}" sibTransId="{7F164330-1C89-4B68-902C-F6D2224489C1}"/>
    <dgm:cxn modelId="{F006CCAA-C1EF-4A7F-A7C0-BEC2320757DC}" srcId="{54593977-0C77-4851-942F-22B48033E295}" destId="{DDC254D4-1BDD-4BC4-85F1-CEB04BCB1A4E}" srcOrd="3" destOrd="0" parTransId="{EDC4EC85-6286-491E-9C51-1A0048C2734B}" sibTransId="{6A81236B-DECE-4519-9A07-4DA2328995F4}"/>
    <dgm:cxn modelId="{E2555CB5-6985-41EA-A9D4-B09DA1C297FD}" srcId="{54593977-0C77-4851-942F-22B48033E295}" destId="{0782A33B-F9D7-4BD7-B635-54F06B791FE1}" srcOrd="0" destOrd="0" parTransId="{D7817DF4-D212-4F40-93E7-74891AFA918F}" sibTransId="{C54D31C7-B16F-4B25-BD89-4EED5A18BC00}"/>
    <dgm:cxn modelId="{675436C3-5C6D-42AC-BB88-9B4C306748C0}" type="presOf" srcId="{54593977-0C77-4851-942F-22B48033E295}" destId="{6D8BDDFA-5E3B-4318-B008-024728FE7170}" srcOrd="0" destOrd="0" presId="urn:microsoft.com/office/officeart/2005/8/layout/default"/>
    <dgm:cxn modelId="{8C57F6C4-6E72-416B-B393-88F1AC44672F}" srcId="{54593977-0C77-4851-942F-22B48033E295}" destId="{12806437-4F47-45B5-876F-C360234FEE17}" srcOrd="1" destOrd="0" parTransId="{C284E688-0A7B-4561-9D0B-D7E219165275}" sibTransId="{FC6BEF44-6F95-4E89-A4B6-C3D18B86136B}"/>
    <dgm:cxn modelId="{37B257C8-43C3-414C-B310-58A989315855}" srcId="{54593977-0C77-4851-942F-22B48033E295}" destId="{4BC1DD22-BDF5-40C3-9C70-1B942D1F7D8C}" srcOrd="2" destOrd="0" parTransId="{852C1447-F9C8-4D92-8BD1-6FA7A83E8682}" sibTransId="{22452D4E-5960-4C1A-9077-5DD3D26D687A}"/>
    <dgm:cxn modelId="{18D10FE0-3D19-4773-A837-2F2DDFF27E21}" srcId="{54593977-0C77-4851-942F-22B48033E295}" destId="{488A93FA-DC4C-4760-B4A2-86921BA020EC}" srcOrd="7" destOrd="0" parTransId="{24D7D713-BBBD-49F1-B70A-E96B62FCC0F4}" sibTransId="{266B92F1-0C1C-4ED8-89A0-735D6321EE7F}"/>
    <dgm:cxn modelId="{9BCDF1F9-39BE-4E50-81C2-A2DD77B514AB}" srcId="{54593977-0C77-4851-942F-22B48033E295}" destId="{AF2242BE-AB91-460E-ADF8-0DF5BBBCB548}" srcOrd="4" destOrd="0" parTransId="{B857577F-B605-4D45-9261-457A1B364CC7}" sibTransId="{DE0D8B9A-805F-4F32-920B-3C5EADB6198C}"/>
    <dgm:cxn modelId="{B710823F-14AD-484B-B3C9-C7963BA6A6E6}" type="presParOf" srcId="{6D8BDDFA-5E3B-4318-B008-024728FE7170}" destId="{2644A4F9-9E18-4232-BF32-2FFD62AEABFF}" srcOrd="0" destOrd="0" presId="urn:microsoft.com/office/officeart/2005/8/layout/default"/>
    <dgm:cxn modelId="{98419266-84C5-4787-BB94-21F4357C5353}" type="presParOf" srcId="{6D8BDDFA-5E3B-4318-B008-024728FE7170}" destId="{1CF9B95E-C179-4555-A3E0-A2AE49161463}" srcOrd="1" destOrd="0" presId="urn:microsoft.com/office/officeart/2005/8/layout/default"/>
    <dgm:cxn modelId="{F4DE47E3-F6B4-4CD1-B448-823452D9EA2A}" type="presParOf" srcId="{6D8BDDFA-5E3B-4318-B008-024728FE7170}" destId="{434A0017-6BB5-45C6-B60E-DBEAB89FDED1}" srcOrd="2" destOrd="0" presId="urn:microsoft.com/office/officeart/2005/8/layout/default"/>
    <dgm:cxn modelId="{C8A4253F-7E3C-4B42-91EC-D8D64DAEB8F7}" type="presParOf" srcId="{6D8BDDFA-5E3B-4318-B008-024728FE7170}" destId="{B1C3CC9A-F474-4A49-940D-55FE3F1DA6C6}" srcOrd="3" destOrd="0" presId="urn:microsoft.com/office/officeart/2005/8/layout/default"/>
    <dgm:cxn modelId="{A42B21A9-EA74-48D0-956B-DBCC3D4EFE83}" type="presParOf" srcId="{6D8BDDFA-5E3B-4318-B008-024728FE7170}" destId="{53229325-C532-44D3-9FDD-AFFA05C746EC}" srcOrd="4" destOrd="0" presId="urn:microsoft.com/office/officeart/2005/8/layout/default"/>
    <dgm:cxn modelId="{B0EEF85D-8488-44EB-BD9B-CA774500ED78}" type="presParOf" srcId="{6D8BDDFA-5E3B-4318-B008-024728FE7170}" destId="{59DF242C-3648-4CBC-9FA3-4B2199D69904}" srcOrd="5" destOrd="0" presId="urn:microsoft.com/office/officeart/2005/8/layout/default"/>
    <dgm:cxn modelId="{B0912193-0E3E-4857-9DC7-B74A0AEDD33E}" type="presParOf" srcId="{6D8BDDFA-5E3B-4318-B008-024728FE7170}" destId="{2729112F-5318-4F13-A3B6-67FF4B823ED7}" srcOrd="6" destOrd="0" presId="urn:microsoft.com/office/officeart/2005/8/layout/default"/>
    <dgm:cxn modelId="{63F59F8A-896C-4F65-BC94-EDA444E0CC84}" type="presParOf" srcId="{6D8BDDFA-5E3B-4318-B008-024728FE7170}" destId="{26BE735B-3FE7-4FE7-8086-02FD2843AB87}" srcOrd="7" destOrd="0" presId="urn:microsoft.com/office/officeart/2005/8/layout/default"/>
    <dgm:cxn modelId="{035C8D53-A506-45EC-81C0-8B5B969356F4}" type="presParOf" srcId="{6D8BDDFA-5E3B-4318-B008-024728FE7170}" destId="{F6C53CDD-53D9-4FC2-9EF7-E3681957C96E}" srcOrd="8" destOrd="0" presId="urn:microsoft.com/office/officeart/2005/8/layout/default"/>
    <dgm:cxn modelId="{C9CAD6B1-929F-4D1B-BB12-3F74576FE257}" type="presParOf" srcId="{6D8BDDFA-5E3B-4318-B008-024728FE7170}" destId="{6C106E13-8F98-4306-87E3-128A6ACCC14F}" srcOrd="9" destOrd="0" presId="urn:microsoft.com/office/officeart/2005/8/layout/default"/>
    <dgm:cxn modelId="{B9ADF9D5-269C-4953-A069-9C90997C3E2C}" type="presParOf" srcId="{6D8BDDFA-5E3B-4318-B008-024728FE7170}" destId="{D6027E92-B64C-4FB2-AD0E-A4A0FB540C45}" srcOrd="10" destOrd="0" presId="urn:microsoft.com/office/officeart/2005/8/layout/default"/>
    <dgm:cxn modelId="{D0E60CEA-42F5-4AB5-908F-32FF3C927534}" type="presParOf" srcId="{6D8BDDFA-5E3B-4318-B008-024728FE7170}" destId="{6A5F6CC0-364B-4772-97E2-33CE04A4D207}" srcOrd="11" destOrd="0" presId="urn:microsoft.com/office/officeart/2005/8/layout/default"/>
    <dgm:cxn modelId="{49012B6E-3CE1-4557-82A7-A253CA0A1D52}" type="presParOf" srcId="{6D8BDDFA-5E3B-4318-B008-024728FE7170}" destId="{21AB3D04-8544-4D3A-9B78-0176ABA8D707}" srcOrd="12" destOrd="0" presId="urn:microsoft.com/office/officeart/2005/8/layout/default"/>
    <dgm:cxn modelId="{D8D4CE90-4A61-462E-AC4C-9C0A24FE1692}" type="presParOf" srcId="{6D8BDDFA-5E3B-4318-B008-024728FE7170}" destId="{F4426D8C-B35E-433B-A507-9808F121FD39}" srcOrd="13" destOrd="0" presId="urn:microsoft.com/office/officeart/2005/8/layout/default"/>
    <dgm:cxn modelId="{2165AC40-24F2-44A1-927F-E0857EEE49FE}" type="presParOf" srcId="{6D8BDDFA-5E3B-4318-B008-024728FE7170}" destId="{3A5AEC27-703C-4386-B029-1E2D5C8A9587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44A4F9-9E18-4232-BF32-2FFD62AEABFF}">
      <dsp:nvSpPr>
        <dsp:cNvPr id="0" name=""/>
        <dsp:cNvSpPr/>
      </dsp:nvSpPr>
      <dsp:spPr>
        <a:xfrm>
          <a:off x="0" y="497323"/>
          <a:ext cx="2135066" cy="12810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LDA (Linear Discriminant Analysis)</a:t>
          </a:r>
        </a:p>
      </dsp:txBody>
      <dsp:txXfrm>
        <a:off x="0" y="497323"/>
        <a:ext cx="2135066" cy="1281039"/>
      </dsp:txXfrm>
    </dsp:sp>
    <dsp:sp modelId="{434A0017-6BB5-45C6-B60E-DBEAB89FDED1}">
      <dsp:nvSpPr>
        <dsp:cNvPr id="0" name=""/>
        <dsp:cNvSpPr/>
      </dsp:nvSpPr>
      <dsp:spPr>
        <a:xfrm>
          <a:off x="2348572" y="497323"/>
          <a:ext cx="2135066" cy="12810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SVM</a:t>
          </a:r>
          <a:r>
            <a:rPr lang="en-US" sz="2000" kern="1200" dirty="0">
              <a:latin typeface="Century Gothic" panose="020B0502020202020204"/>
            </a:rPr>
            <a:t>(Support Vector Machine)</a:t>
          </a:r>
          <a:endParaRPr lang="en-US" sz="2000" kern="1200" dirty="0"/>
        </a:p>
      </dsp:txBody>
      <dsp:txXfrm>
        <a:off x="2348572" y="497323"/>
        <a:ext cx="2135066" cy="1281039"/>
      </dsp:txXfrm>
    </dsp:sp>
    <dsp:sp modelId="{53229325-C532-44D3-9FDD-AFFA05C746EC}">
      <dsp:nvSpPr>
        <dsp:cNvPr id="0" name=""/>
        <dsp:cNvSpPr/>
      </dsp:nvSpPr>
      <dsp:spPr>
        <a:xfrm>
          <a:off x="4697145" y="497323"/>
          <a:ext cx="2135066" cy="12810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</a:t>
          </a:r>
          <a:r>
            <a:rPr lang="en-US" sz="2000" kern="1200" dirty="0" err="1"/>
            <a:t>bsnsing</a:t>
          </a:r>
          <a:r>
            <a:rPr lang="en-US" sz="2000" kern="1200" dirty="0"/>
            <a:t>(): Boolean Sensing Decision Tree</a:t>
          </a:r>
          <a:endParaRPr lang="en-US" sz="2000" kern="1200" dirty="0">
            <a:ln>
              <a:solidFill>
                <a:schemeClr val="lt1">
                  <a:hueOff val="0"/>
                  <a:satOff val="0"/>
                  <a:lumOff val="0"/>
                </a:schemeClr>
              </a:solidFill>
            </a:ln>
          </a:endParaRPr>
        </a:p>
      </dsp:txBody>
      <dsp:txXfrm>
        <a:off x="4697145" y="497323"/>
        <a:ext cx="2135066" cy="1281039"/>
      </dsp:txXfrm>
    </dsp:sp>
    <dsp:sp modelId="{2729112F-5318-4F13-A3B6-67FF4B823ED7}">
      <dsp:nvSpPr>
        <dsp:cNvPr id="0" name=""/>
        <dsp:cNvSpPr/>
      </dsp:nvSpPr>
      <dsp:spPr>
        <a:xfrm>
          <a:off x="0" y="1991869"/>
          <a:ext cx="2135066" cy="12810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(GLM) Logistic Regression</a:t>
          </a:r>
        </a:p>
      </dsp:txBody>
      <dsp:txXfrm>
        <a:off x="0" y="1991869"/>
        <a:ext cx="2135066" cy="1281039"/>
      </dsp:txXfrm>
    </dsp:sp>
    <dsp:sp modelId="{F6C53CDD-53D9-4FC2-9EF7-E3681957C96E}">
      <dsp:nvSpPr>
        <dsp:cNvPr id="0" name=""/>
        <dsp:cNvSpPr/>
      </dsp:nvSpPr>
      <dsp:spPr>
        <a:xfrm>
          <a:off x="2348572" y="1991869"/>
          <a:ext cx="2135066" cy="12810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Gothic" panose="020B0502020202020204"/>
            </a:rPr>
            <a:t>Random</a:t>
          </a:r>
          <a:r>
            <a:rPr lang="en-US" sz="2000" kern="1200" dirty="0"/>
            <a:t> Forest</a:t>
          </a:r>
        </a:p>
      </dsp:txBody>
      <dsp:txXfrm>
        <a:off x="2348572" y="1991869"/>
        <a:ext cx="2135066" cy="1281039"/>
      </dsp:txXfrm>
    </dsp:sp>
    <dsp:sp modelId="{D6027E92-B64C-4FB2-AD0E-A4A0FB540C45}">
      <dsp:nvSpPr>
        <dsp:cNvPr id="0" name=""/>
        <dsp:cNvSpPr/>
      </dsp:nvSpPr>
      <dsp:spPr>
        <a:xfrm>
          <a:off x="4697145" y="1991869"/>
          <a:ext cx="2135066" cy="12810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Gothic" panose="020B0502020202020204"/>
            </a:rPr>
            <a:t>QDA</a:t>
          </a:r>
          <a:r>
            <a:rPr lang="en-US" sz="2000" b="0" kern="1200" dirty="0">
              <a:latin typeface="Century Gothic" panose="020B0502020202020204"/>
            </a:rPr>
            <a:t>(</a:t>
          </a:r>
          <a:r>
            <a:rPr lang="en-US" sz="2000" b="0" kern="1200" dirty="0"/>
            <a:t>Quadratic Discriminant Analysis</a:t>
          </a:r>
          <a:r>
            <a:rPr lang="en-US" sz="2000" b="0" kern="1200" dirty="0">
              <a:latin typeface="Century Gothic" panose="020B0502020202020204"/>
            </a:rPr>
            <a:t>)</a:t>
          </a:r>
          <a:endParaRPr lang="en-US" sz="2000" b="0" kern="1200" dirty="0"/>
        </a:p>
      </dsp:txBody>
      <dsp:txXfrm>
        <a:off x="4697145" y="1991869"/>
        <a:ext cx="2135066" cy="1281039"/>
      </dsp:txXfrm>
    </dsp:sp>
    <dsp:sp modelId="{21AB3D04-8544-4D3A-9B78-0176ABA8D707}">
      <dsp:nvSpPr>
        <dsp:cNvPr id="0" name=""/>
        <dsp:cNvSpPr/>
      </dsp:nvSpPr>
      <dsp:spPr>
        <a:xfrm>
          <a:off x="1174286" y="3486415"/>
          <a:ext cx="2135066" cy="12810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(SVM)Support Vector Machine</a:t>
          </a:r>
        </a:p>
      </dsp:txBody>
      <dsp:txXfrm>
        <a:off x="1174286" y="3486415"/>
        <a:ext cx="2135066" cy="1281039"/>
      </dsp:txXfrm>
    </dsp:sp>
    <dsp:sp modelId="{3A5AEC27-703C-4386-B029-1E2D5C8A9587}">
      <dsp:nvSpPr>
        <dsp:cNvPr id="0" name=""/>
        <dsp:cNvSpPr/>
      </dsp:nvSpPr>
      <dsp:spPr>
        <a:xfrm>
          <a:off x="3522859" y="3486415"/>
          <a:ext cx="2135066" cy="12810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Naïve Bayes</a:t>
          </a:r>
        </a:p>
      </dsp:txBody>
      <dsp:txXfrm>
        <a:off x="3522859" y="3486415"/>
        <a:ext cx="2135066" cy="12810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2T15:13:20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2T05:10:39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2T05:10:41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2T05:10:41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2T05:10:42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2T05:10:42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24575,'0'11'0,"0"9"0,0 2-8191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12T05:10:42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7026C5-F313-494A-86B6-AF84291C6E4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D5836-2AB8-5F43-917D-71E49DC6D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056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a3ff36d47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a3ff36d47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b50124d8b7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b50124d8b7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b50124d8b7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b50124d8b7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06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963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530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449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621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58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237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56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685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413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7512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48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7659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184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571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24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73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customXml" Target="../ink/ink2.xml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11" Type="http://schemas.openxmlformats.org/officeDocument/2006/relationships/image" Target="../media/image5.png"/><Relationship Id="rId5" Type="http://schemas.openxmlformats.org/officeDocument/2006/relationships/customXml" Target="../ink/ink3.xml"/><Relationship Id="rId10" Type="http://schemas.openxmlformats.org/officeDocument/2006/relationships/customXml" Target="../ink/ink7.xml"/><Relationship Id="rId4" Type="http://schemas.openxmlformats.org/officeDocument/2006/relationships/image" Target="../media/image10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web/packages/lda/index.html" TargetMode="External"/><Relationship Id="rId2" Type="http://schemas.openxmlformats.org/officeDocument/2006/relationships/hyperlink" Target="https://cran.r-project.org/web/packages/available_packages_by_nam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an.r-project.org/web/packages/naivebayes/index.html" TargetMode="External"/><Relationship Id="rId5" Type="http://schemas.openxmlformats.org/officeDocument/2006/relationships/hyperlink" Target="https://cran.r-project.org/web/packages/e1071/vignettes/svmdoc.pdf" TargetMode="External"/><Relationship Id="rId4" Type="http://schemas.openxmlformats.org/officeDocument/2006/relationships/hyperlink" Target="https://rdrr.io/cran/MASS/man/qd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2177" y="681643"/>
            <a:ext cx="8915399" cy="1995455"/>
          </a:xfrm>
        </p:spPr>
        <p:txBody>
          <a:bodyPr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 b="1" dirty="0">
                <a:solidFill>
                  <a:schemeClr val="tx1"/>
                </a:solidFill>
              </a:rPr>
              <a:t>DSA 6000  Project</a:t>
            </a:r>
            <a:br>
              <a:rPr lang="en-US" sz="44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Classification Model Benchmarking</a:t>
            </a:r>
            <a:br>
              <a:rPr lang="en-US" sz="4400" b="1" dirty="0">
                <a:solidFill>
                  <a:schemeClr val="tx1"/>
                </a:solidFill>
              </a:rPr>
            </a:br>
            <a:r>
              <a:rPr lang="en-US" sz="4400" b="1" dirty="0">
                <a:solidFill>
                  <a:schemeClr val="tx1"/>
                </a:solidFill>
              </a:rPr>
              <a:t>Group 7</a:t>
            </a:r>
            <a:endParaRPr lang="en-US" sz="6600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89574" y="3547538"/>
            <a:ext cx="8757679" cy="1904356"/>
          </a:xfrm>
        </p:spPr>
        <p:txBody>
          <a:bodyPr>
            <a:normAutofit/>
          </a:bodyPr>
          <a:lstStyle/>
          <a:p>
            <a:pPr algn="ctr"/>
            <a:r>
              <a:rPr lang="en-US" sz="46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Presented By: </a:t>
            </a:r>
          </a:p>
          <a:p>
            <a:pPr algn="ctr"/>
            <a:r>
              <a:rPr lang="en-US" sz="2800" b="1" dirty="0">
                <a:latin typeface="+mj-lt"/>
                <a:ea typeface="Arial"/>
                <a:cs typeface="Arial"/>
                <a:sym typeface="Arial"/>
              </a:rPr>
              <a:t>Dinesh Arasavalli 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A69E6-5C7F-E972-DF7A-B47A16C99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18B0F-42E7-4B2B-90CD-160203ED3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q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Background</a:t>
            </a:r>
          </a:p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q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Datasets.</a:t>
            </a:r>
          </a:p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q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Model</a:t>
            </a:r>
          </a:p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q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Methods</a:t>
            </a:r>
          </a:p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q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Results</a:t>
            </a:r>
          </a:p>
          <a:p>
            <a:pPr marL="508000" lvl="0" indent="-457200" algn="l" rtl="0"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q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Conclusion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77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85837-919F-4DB8-DC44-499E45993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605" y="660685"/>
            <a:ext cx="8911687" cy="879503"/>
          </a:xfrm>
        </p:spPr>
        <p:txBody>
          <a:bodyPr>
            <a:noAutofit/>
          </a:bodyPr>
          <a:lstStyle/>
          <a:p>
            <a:r>
              <a:rPr lang="en-US" sz="4000" b="1" dirty="0"/>
              <a:t>Background: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3A239-2269-02E1-CE62-141B33260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012" y="1540189"/>
            <a:ext cx="8915400" cy="3777622"/>
          </a:xfrm>
        </p:spPr>
        <p:txBody>
          <a:bodyPr>
            <a:no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+mj-lt"/>
              </a:rPr>
              <a:t>In our supervised learning project, we conducted a comparison of classification models using a set of 20 datasets.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+mj-lt"/>
              </a:rPr>
              <a:t>The project comprised two distinct phases: in the first phase, we utilized default predictors, while in the second phase, models were constructed through forward model selection.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+mj-lt"/>
              </a:rPr>
              <a:t> </a:t>
            </a:r>
            <a:r>
              <a:rPr lang="en-US" sz="2000" dirty="0">
                <a:solidFill>
                  <a:srgbClr val="374151"/>
                </a:solidFill>
                <a:latin typeface="+mj-lt"/>
              </a:rPr>
              <a:t>For Model evaluation parameters/metrics, we are considering two parts training and Testing. The dataset 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+mj-lt"/>
              </a:rPr>
              <a:t>was partitioned into 70% training data and 30% test data, allowing for the evaluation of Area Under the Curve (AUC) and accuracy. Our focus centered on binary responses, encompassing both categorical and continuous predictors. 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+mj-lt"/>
              </a:rPr>
              <a:t>The key metrics for comparison included AUC, accuracy, Precision, error rate and F-score. Additionally, we delved into exploring the potential impact of dataset size and predictor count on the overall performance of the models across the 20 datasets.</a:t>
            </a:r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9609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19700-43E7-C170-D605-3B3B116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862" y="0"/>
            <a:ext cx="8911687" cy="1280890"/>
          </a:xfrm>
        </p:spPr>
        <p:txBody>
          <a:bodyPr>
            <a:normAutofit/>
          </a:bodyPr>
          <a:lstStyle/>
          <a:p>
            <a:r>
              <a:rPr lang="en-US" sz="4000" b="1" dirty="0"/>
              <a:t>Datasets.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B6B532-D54C-D1BB-7B1F-93BFBF89F9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1036979"/>
              </p:ext>
            </p:extLst>
          </p:nvPr>
        </p:nvGraphicFramePr>
        <p:xfrm>
          <a:off x="1555862" y="640445"/>
          <a:ext cx="10543210" cy="608558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54606">
                  <a:extLst>
                    <a:ext uri="{9D8B030D-6E8A-4147-A177-3AD203B41FA5}">
                      <a16:colId xmlns:a16="http://schemas.microsoft.com/office/drawing/2014/main" val="958573532"/>
                    </a:ext>
                  </a:extLst>
                </a:gridCol>
                <a:gridCol w="2862678">
                  <a:extLst>
                    <a:ext uri="{9D8B030D-6E8A-4147-A177-3AD203B41FA5}">
                      <a16:colId xmlns:a16="http://schemas.microsoft.com/office/drawing/2014/main" val="2056725052"/>
                    </a:ext>
                  </a:extLst>
                </a:gridCol>
                <a:gridCol w="2108642">
                  <a:extLst>
                    <a:ext uri="{9D8B030D-6E8A-4147-A177-3AD203B41FA5}">
                      <a16:colId xmlns:a16="http://schemas.microsoft.com/office/drawing/2014/main" val="1833564071"/>
                    </a:ext>
                  </a:extLst>
                </a:gridCol>
                <a:gridCol w="2108642">
                  <a:extLst>
                    <a:ext uri="{9D8B030D-6E8A-4147-A177-3AD203B41FA5}">
                      <a16:colId xmlns:a16="http://schemas.microsoft.com/office/drawing/2014/main" val="1355026534"/>
                    </a:ext>
                  </a:extLst>
                </a:gridCol>
                <a:gridCol w="2108642">
                  <a:extLst>
                    <a:ext uri="{9D8B030D-6E8A-4147-A177-3AD203B41FA5}">
                      <a16:colId xmlns:a16="http://schemas.microsoft.com/office/drawing/2014/main" val="3748808110"/>
                    </a:ext>
                  </a:extLst>
                </a:gridCol>
              </a:tblGrid>
              <a:tr h="361678">
                <a:tc>
                  <a:txBody>
                    <a:bodyPr/>
                    <a:lstStyle/>
                    <a:p>
                      <a:r>
                        <a:rPr lang="en-US" sz="1400" b="1" u="none" strike="noStrike" kern="1200" cap="none" baseline="0" dirty="0">
                          <a:solidFill>
                            <a:schemeClr val="accent1"/>
                          </a:solidFill>
                        </a:rPr>
                        <a:t>Dataset</a:t>
                      </a:r>
                      <a:endParaRPr lang="en-US" sz="1400" b="1" i="0" u="none" strike="noStrike" kern="1200" cap="none" baseline="0" dirty="0">
                        <a:solidFill>
                          <a:schemeClr val="accent1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 kern="1200" cap="none" baseline="0" dirty="0">
                          <a:solidFill>
                            <a:schemeClr val="accent1"/>
                          </a:solidFill>
                        </a:rPr>
                        <a:t>Classification</a:t>
                      </a:r>
                      <a:endParaRPr lang="en-US" sz="1400" b="1" i="0" u="none" strike="noStrike" kern="1200" cap="none" baseline="0" dirty="0">
                        <a:solidFill>
                          <a:schemeClr val="accent1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 kern="1200" cap="none" baseline="0" dirty="0">
                          <a:solidFill>
                            <a:schemeClr val="accent1"/>
                          </a:solidFill>
                        </a:rPr>
                        <a:t>N</a:t>
                      </a:r>
                      <a:endParaRPr lang="en-US" sz="1400" b="1" i="0" u="none" strike="noStrike" kern="1200" cap="none" baseline="0" dirty="0">
                        <a:solidFill>
                          <a:schemeClr val="accent1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 kern="1200" cap="none" baseline="0" dirty="0">
                          <a:solidFill>
                            <a:schemeClr val="accent1"/>
                          </a:solidFill>
                        </a:rPr>
                        <a:t>P</a:t>
                      </a:r>
                      <a:endParaRPr lang="en-US" sz="1400" b="1" i="0" u="none" strike="noStrike" kern="1200" cap="none" baseline="0" dirty="0">
                        <a:solidFill>
                          <a:schemeClr val="accent1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u="none" strike="noStrike" kern="1200" cap="none" baseline="0" dirty="0">
                          <a:solidFill>
                            <a:schemeClr val="accent1"/>
                          </a:solidFill>
                        </a:rPr>
                        <a:t>Source</a:t>
                      </a:r>
                      <a:endParaRPr lang="en-US" sz="1400" b="1" i="0" u="none" strike="noStrike" kern="1200" cap="none" baseline="0" dirty="0">
                        <a:solidFill>
                          <a:schemeClr val="accent1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27523"/>
                  </a:ext>
                </a:extLst>
              </a:tr>
              <a:tr h="36167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Arial"/>
                        </a:rPr>
                        <a:t>loan_data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Loan eligibility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614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123601"/>
                  </a:ext>
                </a:extLst>
              </a:tr>
              <a:tr h="36167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Arial"/>
                        </a:rPr>
                        <a:t>liver_patient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 for liver disease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583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UCI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191405"/>
                  </a:ext>
                </a:extLst>
              </a:tr>
              <a:tr h="6242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stroke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 for Brain stroke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4932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544625"/>
                  </a:ext>
                </a:extLst>
              </a:tr>
              <a:tr h="6242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diabetes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Diabetes Prediction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768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664358"/>
                  </a:ext>
                </a:extLst>
              </a:tr>
              <a:tr h="6242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Arial"/>
                        </a:rPr>
                        <a:t>heart_attack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 of heart stroke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302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62159"/>
                  </a:ext>
                </a:extLst>
              </a:tr>
              <a:tr h="6242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Arial"/>
                        </a:rPr>
                        <a:t>breast_cancer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Calibri"/>
                        </a:rPr>
                        <a:t>Predict for </a:t>
                      </a: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Arial"/>
                        </a:rPr>
                        <a:t>breast_cancer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569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UCI</a:t>
                      </a:r>
                    </a:p>
                    <a:p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515398"/>
                  </a:ext>
                </a:extLst>
              </a:tr>
              <a:tr h="43463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Calibri"/>
                        </a:rPr>
                        <a:t>Wine quality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Wine quality predictions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1600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UCI</a:t>
                      </a:r>
                    </a:p>
                    <a:p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870242"/>
                  </a:ext>
                </a:extLst>
              </a:tr>
              <a:tr h="4161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Calibri"/>
                        </a:rPr>
                        <a:t>Default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Credit card Yes or no/Student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10000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ISLR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255971"/>
                  </a:ext>
                </a:extLst>
              </a:tr>
              <a:tr h="6242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Calibri"/>
                        </a:rPr>
                        <a:t>diabetes2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 for diabetes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520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984928"/>
                  </a:ext>
                </a:extLst>
              </a:tr>
              <a:tr h="41617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Calibri"/>
                        </a:rPr>
                        <a:t>Heart_failure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Post-surgery heart failure</a:t>
                      </a:r>
                    </a:p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299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UCI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665855"/>
                  </a:ext>
                </a:extLst>
              </a:tr>
              <a:tr h="5053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Calibri"/>
                        </a:rPr>
                        <a:t>Student_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Calibri"/>
                        </a:rPr>
                        <a:t>data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Academic success and dropout predict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4424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37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UCI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249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49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FAB6A1-4614-CD13-24F7-8C92390AF9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160717"/>
              </p:ext>
            </p:extLst>
          </p:nvPr>
        </p:nvGraphicFramePr>
        <p:xfrm>
          <a:off x="1588167" y="152421"/>
          <a:ext cx="10165220" cy="655315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068590">
                  <a:extLst>
                    <a:ext uri="{9D8B030D-6E8A-4147-A177-3AD203B41FA5}">
                      <a16:colId xmlns:a16="http://schemas.microsoft.com/office/drawing/2014/main" val="3519173240"/>
                    </a:ext>
                  </a:extLst>
                </a:gridCol>
                <a:gridCol w="2156642">
                  <a:extLst>
                    <a:ext uri="{9D8B030D-6E8A-4147-A177-3AD203B41FA5}">
                      <a16:colId xmlns:a16="http://schemas.microsoft.com/office/drawing/2014/main" val="2030625047"/>
                    </a:ext>
                  </a:extLst>
                </a:gridCol>
                <a:gridCol w="1979996">
                  <a:extLst>
                    <a:ext uri="{9D8B030D-6E8A-4147-A177-3AD203B41FA5}">
                      <a16:colId xmlns:a16="http://schemas.microsoft.com/office/drawing/2014/main" val="2439069884"/>
                    </a:ext>
                  </a:extLst>
                </a:gridCol>
                <a:gridCol w="1979996">
                  <a:extLst>
                    <a:ext uri="{9D8B030D-6E8A-4147-A177-3AD203B41FA5}">
                      <a16:colId xmlns:a16="http://schemas.microsoft.com/office/drawing/2014/main" val="1117946495"/>
                    </a:ext>
                  </a:extLst>
                </a:gridCol>
                <a:gridCol w="1979996">
                  <a:extLst>
                    <a:ext uri="{9D8B030D-6E8A-4147-A177-3AD203B41FA5}">
                      <a16:colId xmlns:a16="http://schemas.microsoft.com/office/drawing/2014/main" val="1554273535"/>
                    </a:ext>
                  </a:extLst>
                </a:gridCol>
              </a:tblGrid>
              <a:tr h="403399">
                <a:tc>
                  <a:txBody>
                    <a:bodyPr/>
                    <a:lstStyle/>
                    <a:p>
                      <a:pPr marL="0" lv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Calibri"/>
                        </a:rPr>
                        <a:t>Cell_samples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 of classification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of cell samples into 2 types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700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</a:rPr>
                        <a:t>Github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253673"/>
                  </a:ext>
                </a:extLst>
              </a:tr>
              <a:tr h="403399">
                <a:tc>
                  <a:txBody>
                    <a:bodyPr/>
                    <a:lstStyle/>
                    <a:p>
                      <a:pPr marL="0" lv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Calibri"/>
                        </a:rPr>
                        <a:t>New_model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 for kidney disease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400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303876"/>
                  </a:ext>
                </a:extLst>
              </a:tr>
              <a:tr h="605098">
                <a:tc>
                  <a:txBody>
                    <a:bodyPr/>
                    <a:lstStyle/>
                    <a:p>
                      <a:pPr marL="0" lv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Calibri"/>
                        </a:rPr>
                        <a:t>Metabolic </a:t>
                      </a: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Syndrome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Presence or absence of metabolic syndrome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2401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pPr marL="0" algn="l" defTabSz="457200" rtl="0" eaLnBrk="1" latinLnBrk="0" hangingPunct="1"/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6600"/>
                  </a:ext>
                </a:extLst>
              </a:tr>
              <a:tr h="605098">
                <a:tc>
                  <a:txBody>
                    <a:bodyPr/>
                    <a:lstStyle/>
                    <a:p>
                      <a:pPr marL="0" lvl="0" indent="0" algn="l" defTabSz="4572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Calibri"/>
                        </a:rPr>
                        <a:t>gbsg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Breast cancer prediction yes/no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686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pPr marL="0" algn="l" defTabSz="457200" rtl="0" eaLnBrk="1" latinLnBrk="0" hangingPunct="1"/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967005"/>
                  </a:ext>
                </a:extLst>
              </a:tr>
              <a:tr h="60509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drug200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Classification of drugs into certain types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</a:rPr>
                        <a:t>Github</a:t>
                      </a:r>
                      <a:endParaRPr lang="en-US" sz="1400" b="0" u="none" strike="noStrike" kern="1200" cap="none" baseline="0" dirty="0">
                        <a:solidFill>
                          <a:srgbClr val="000000"/>
                        </a:solidFill>
                      </a:endParaRPr>
                    </a:p>
                    <a:p>
                      <a:pPr marL="0" algn="l" defTabSz="457200" rtl="0" eaLnBrk="1" latinLnBrk="0" hangingPunct="1"/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04072"/>
                  </a:ext>
                </a:extLst>
              </a:tr>
              <a:tr h="86442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babies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Classification whether the baby's mom does smoke/not smoke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1237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pPr marL="0" algn="l" defTabSz="457200" rtl="0" eaLnBrk="1" latinLnBrk="0" hangingPunct="1"/>
                      <a:endParaRPr lang="en-US" sz="1400" b="0" u="none" strike="noStrike" kern="1200" cap="none" baseline="0" dirty="0">
                        <a:solidFill>
                          <a:srgbClr val="000000"/>
                        </a:solidFill>
                      </a:endParaRPr>
                    </a:p>
                    <a:p>
                      <a:pPr marL="0" algn="l" defTabSz="457200" rtl="0" eaLnBrk="1" latinLnBrk="0" hangingPunct="1"/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431998"/>
                  </a:ext>
                </a:extLst>
              </a:tr>
              <a:tr h="864426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Arial"/>
                        </a:rPr>
                        <a:t>Disease_syptom_and</a:t>
                      </a: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_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patient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 of diagnosis/asses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Arial"/>
                        </a:rPr>
                        <a:t>sment</a:t>
                      </a: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 of specific disease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349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pPr marL="0" algn="l" defTabSz="457200" rtl="0" eaLnBrk="1" latinLnBrk="0" hangingPunct="1"/>
                      <a:endParaRPr lang="en-US" sz="1400" b="0" u="none" strike="noStrike" kern="1200" cap="none" baseline="0" dirty="0">
                        <a:solidFill>
                          <a:srgbClr val="000000"/>
                        </a:solidFill>
                      </a:endParaRPr>
                    </a:p>
                    <a:p>
                      <a:pPr marL="0" algn="l" defTabSz="457200" rtl="0" eaLnBrk="1" latinLnBrk="0" hangingPunct="1"/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548037"/>
                  </a:ext>
                </a:extLst>
              </a:tr>
              <a:tr h="864426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 err="1">
                          <a:solidFill>
                            <a:srgbClr val="000000"/>
                          </a:solidFill>
                          <a:sym typeface="Arial"/>
                        </a:rPr>
                        <a:t>rice_classification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Rice grain type prediction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18186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834861"/>
                  </a:ext>
                </a:extLst>
              </a:tr>
              <a:tr h="864426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Calibri"/>
                        </a:rPr>
                        <a:t>heart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  <a:sym typeface="Arial"/>
                        </a:rPr>
                        <a:t>Prediction of heart disease</a:t>
                      </a:r>
                      <a:endParaRPr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919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baseline="0" dirty="0">
                          <a:solidFill>
                            <a:srgbClr val="000000"/>
                          </a:solidFill>
                        </a:rPr>
                        <a:t>Kaggle</a:t>
                      </a:r>
                    </a:p>
                    <a:p>
                      <a:pPr marL="0" algn="l" defTabSz="457200" rtl="0" eaLnBrk="1" latinLnBrk="0" hangingPunct="1"/>
                      <a:endParaRPr lang="en-US" sz="1400" b="0" u="none" strike="noStrike" kern="1200" cap="none" baseline="0" dirty="0">
                        <a:solidFill>
                          <a:srgbClr val="000000"/>
                        </a:solidFill>
                      </a:endParaRPr>
                    </a:p>
                    <a:p>
                      <a:pPr marL="0" algn="l" defTabSz="457200" rtl="0" eaLnBrk="1" latinLnBrk="0" hangingPunct="1"/>
                      <a:endParaRPr lang="en-US" sz="1400" b="0" i="0" u="none" strike="noStrike" kern="1200" cap="none" baseline="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220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292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98B6E-54E9-0653-284D-D9A099594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Models: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8644F-E824-4A99-3218-E6C3941C8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1875" y="1654098"/>
            <a:ext cx="8915400" cy="3777622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These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Aptos" panose="020B0004020202020204" pitchFamily="34" charset="0"/>
              </a:rPr>
              <a:t>are a different type of machine learning model that we have used for </a:t>
            </a:r>
            <a:r>
              <a:rPr lang="en-US" sz="2000" dirty="0">
                <a:solidFill>
                  <a:srgbClr val="1F1F1F"/>
                </a:solidFill>
                <a:latin typeface="Aptos" panose="020B0004020202020204" pitchFamily="34" charset="0"/>
              </a:rPr>
              <a:t>our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Aptos" panose="020B0004020202020204" pitchFamily="34" charset="0"/>
              </a:rPr>
              <a:t>classification task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stats ::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glm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: Logistic Regression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MASS ::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lda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: Linear Discriminant Analysis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MASS ::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qda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: Quadratic Discriminant Analysis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bsnsing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 ::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bsnsing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: Boolean Sensing Decision Tree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randomForest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 ::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randomForest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: Random Forest Decision Tree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e1071 ::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svm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: Support Vector Machine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e1071 ::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naiveBayes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Aptos" panose="020B0004020202020204" pitchFamily="34" charset="0"/>
              </a:rPr>
              <a:t>: Naive Bayes.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endParaRPr lang="en-US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24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65F8A9-9499-4A44-BDAD-F706130FD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8132C2D-AFE4-478D-A86B-81059C205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5BFD52-DD96-4666-8D77-C636870FD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92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2A7A87-7CC7-4EBA-ABD3-60F9FD155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2813" y="2986793"/>
            <a:ext cx="2454052" cy="302934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Methods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941746C-2C12-4564-8342-A3055D836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8132921" y="3187343"/>
            <a:ext cx="1105119" cy="506624"/>
          </a:xfrm>
          <a:custGeom>
            <a:avLst/>
            <a:gdLst>
              <a:gd name="connsiteX0" fmla="*/ 0 w 1105119"/>
              <a:gd name="connsiteY0" fmla="*/ 506624 h 506624"/>
              <a:gd name="connsiteX1" fmla="*/ 759132 w 1105119"/>
              <a:gd name="connsiteY1" fmla="*/ 505572 h 506624"/>
              <a:gd name="connsiteX2" fmla="*/ 849827 w 1105119"/>
              <a:gd name="connsiteY2" fmla="*/ 505572 h 506624"/>
              <a:gd name="connsiteX3" fmla="*/ 864083 w 1105119"/>
              <a:gd name="connsiteY3" fmla="*/ 500804 h 506624"/>
              <a:gd name="connsiteX4" fmla="*/ 869065 w 1105119"/>
              <a:gd name="connsiteY4" fmla="*/ 496035 h 506624"/>
              <a:gd name="connsiteX5" fmla="*/ 1098034 w 1105119"/>
              <a:gd name="connsiteY5" fmla="*/ 267092 h 506624"/>
              <a:gd name="connsiteX6" fmla="*/ 1098034 w 1105119"/>
              <a:gd name="connsiteY6" fmla="*/ 238480 h 506624"/>
              <a:gd name="connsiteX7" fmla="*/ 869065 w 1105119"/>
              <a:gd name="connsiteY7" fmla="*/ 9537 h 506624"/>
              <a:gd name="connsiteX8" fmla="*/ 864083 w 1105119"/>
              <a:gd name="connsiteY8" fmla="*/ 4769 h 506624"/>
              <a:gd name="connsiteX9" fmla="*/ 849827 w 1105119"/>
              <a:gd name="connsiteY9" fmla="*/ 0 h 506624"/>
              <a:gd name="connsiteX10" fmla="*/ 759132 w 1105119"/>
              <a:gd name="connsiteY10" fmla="*/ 0 h 506624"/>
              <a:gd name="connsiteX11" fmla="*/ 0 w 1105119"/>
              <a:gd name="connsiteY11" fmla="*/ 2157 h 506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5119" h="506624">
                <a:moveTo>
                  <a:pt x="0" y="506624"/>
                </a:moveTo>
                <a:lnTo>
                  <a:pt x="759132" y="505572"/>
                </a:lnTo>
                <a:lnTo>
                  <a:pt x="849827" y="505572"/>
                </a:lnTo>
                <a:cubicBezTo>
                  <a:pt x="854636" y="505572"/>
                  <a:pt x="859446" y="500804"/>
                  <a:pt x="864083" y="500804"/>
                </a:cubicBezTo>
                <a:cubicBezTo>
                  <a:pt x="864083" y="496035"/>
                  <a:pt x="869065" y="496035"/>
                  <a:pt x="869065" y="496035"/>
                </a:cubicBezTo>
                <a:lnTo>
                  <a:pt x="1098034" y="267092"/>
                </a:lnTo>
                <a:cubicBezTo>
                  <a:pt x="1107481" y="257555"/>
                  <a:pt x="1107481" y="248018"/>
                  <a:pt x="1098034" y="238480"/>
                </a:cubicBezTo>
                <a:lnTo>
                  <a:pt x="869065" y="9537"/>
                </a:lnTo>
                <a:cubicBezTo>
                  <a:pt x="867519" y="7914"/>
                  <a:pt x="865629" y="6392"/>
                  <a:pt x="864083" y="4769"/>
                </a:cubicBezTo>
                <a:cubicBezTo>
                  <a:pt x="859446" y="0"/>
                  <a:pt x="854636" y="0"/>
                  <a:pt x="849827" y="0"/>
                </a:cubicBezTo>
                <a:lnTo>
                  <a:pt x="759132" y="0"/>
                </a:lnTo>
                <a:lnTo>
                  <a:pt x="0" y="21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8FD3FB-6CA1-4F60-A836-C96F8E414A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07000"/>
              </p:ext>
            </p:extLst>
          </p:nvPr>
        </p:nvGraphicFramePr>
        <p:xfrm>
          <a:off x="6164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9803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995B33-8A2C-5B5C-407E-144F33A12426}"/>
              </a:ext>
            </a:extLst>
          </p:cNvPr>
          <p:cNvSpPr/>
          <p:nvPr/>
        </p:nvSpPr>
        <p:spPr>
          <a:xfrm>
            <a:off x="409562" y="2221851"/>
            <a:ext cx="1429561" cy="1164706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Google Shape;130;g1a3ff36d471_0_13">
            <a:extLst>
              <a:ext uri="{FF2B5EF4-FFF2-40B4-BE49-F238E27FC236}">
                <a16:creationId xmlns:a16="http://schemas.microsoft.com/office/drawing/2014/main" id="{F0CAF20D-FC4D-D125-F6A5-E54019BF3C51}"/>
              </a:ext>
            </a:extLst>
          </p:cNvPr>
          <p:cNvSpPr txBox="1"/>
          <p:nvPr/>
        </p:nvSpPr>
        <p:spPr>
          <a:xfrm>
            <a:off x="409563" y="2329587"/>
            <a:ext cx="12117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latin typeface="Calibri"/>
                <a:ea typeface="Calibri"/>
                <a:cs typeface="Calibri"/>
                <a:sym typeface="Calibri"/>
              </a:rPr>
              <a:t>Raw Dataset</a:t>
            </a:r>
            <a:endParaRPr sz="22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473F21-21DF-2218-D372-98EE68D8BBB9}"/>
              </a:ext>
            </a:extLst>
          </p:cNvPr>
          <p:cNvCxnSpPr>
            <a:cxnSpLocks/>
          </p:cNvCxnSpPr>
          <p:nvPr/>
        </p:nvCxnSpPr>
        <p:spPr>
          <a:xfrm>
            <a:off x="1787424" y="2791882"/>
            <a:ext cx="8123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EF500A6-5F4D-5C03-8981-3BEA100EA798}"/>
              </a:ext>
            </a:extLst>
          </p:cNvPr>
          <p:cNvSpPr/>
          <p:nvPr/>
        </p:nvSpPr>
        <p:spPr>
          <a:xfrm>
            <a:off x="2569577" y="2195725"/>
            <a:ext cx="1989379" cy="120029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/>
          </a:p>
        </p:txBody>
      </p:sp>
      <p:sp>
        <p:nvSpPr>
          <p:cNvPr id="8" name="Google Shape;130;g1a3ff36d471_0_13">
            <a:extLst>
              <a:ext uri="{FF2B5EF4-FFF2-40B4-BE49-F238E27FC236}">
                <a16:creationId xmlns:a16="http://schemas.microsoft.com/office/drawing/2014/main" id="{34F7034F-ED56-5258-F2D3-D53C7D9AC189}"/>
              </a:ext>
            </a:extLst>
          </p:cNvPr>
          <p:cNvSpPr txBox="1"/>
          <p:nvPr/>
        </p:nvSpPr>
        <p:spPr>
          <a:xfrm>
            <a:off x="2481216" y="2506502"/>
            <a:ext cx="2044269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Binary label 0 &amp; 1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D0D1CAD-3306-D373-9BE5-05808F174401}"/>
              </a:ext>
            </a:extLst>
          </p:cNvPr>
          <p:cNvSpPr/>
          <p:nvPr/>
        </p:nvSpPr>
        <p:spPr>
          <a:xfrm>
            <a:off x="5234402" y="2186261"/>
            <a:ext cx="2215105" cy="120029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Non predictive Variables removed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A7EDCCF-10FF-71DA-9CC0-F0B144051FF9}"/>
              </a:ext>
            </a:extLst>
          </p:cNvPr>
          <p:cNvSpPr/>
          <p:nvPr/>
        </p:nvSpPr>
        <p:spPr>
          <a:xfrm>
            <a:off x="7891452" y="2221851"/>
            <a:ext cx="2007477" cy="116470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Remove null/missing values</a:t>
            </a:r>
          </a:p>
          <a:p>
            <a:pPr algn="ctr"/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6511D3-0CBB-EEB4-4934-3313C39D41E2}"/>
              </a:ext>
            </a:extLst>
          </p:cNvPr>
          <p:cNvCxnSpPr>
            <a:cxnSpLocks/>
          </p:cNvCxnSpPr>
          <p:nvPr/>
        </p:nvCxnSpPr>
        <p:spPr>
          <a:xfrm>
            <a:off x="4537420" y="2729681"/>
            <a:ext cx="6992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6769DF-6922-58A4-B3F7-AA67E7B81681}"/>
              </a:ext>
            </a:extLst>
          </p:cNvPr>
          <p:cNvCxnSpPr>
            <a:cxnSpLocks/>
          </p:cNvCxnSpPr>
          <p:nvPr/>
        </p:nvCxnSpPr>
        <p:spPr>
          <a:xfrm>
            <a:off x="7480278" y="2729681"/>
            <a:ext cx="3873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20016CF-832E-DEAA-9132-ACEA41412B19}"/>
              </a:ext>
            </a:extLst>
          </p:cNvPr>
          <p:cNvCxnSpPr>
            <a:cxnSpLocks/>
          </p:cNvCxnSpPr>
          <p:nvPr/>
        </p:nvCxnSpPr>
        <p:spPr>
          <a:xfrm>
            <a:off x="9872687" y="2828848"/>
            <a:ext cx="53357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EEF7C6E-62DC-1947-3210-B3EAAC6399F2}"/>
                  </a:ext>
                </a:extLst>
              </p14:cNvPr>
              <p14:cNvContentPartPr/>
              <p14:nvPr/>
            </p14:nvContentPartPr>
            <p14:xfrm>
              <a:off x="2599738" y="4682946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EEF7C6E-62DC-1947-3210-B3EAAC6399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95418" y="4678626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C2C9BD7-3D81-89D3-A936-4E0CCFCCC6B3}"/>
              </a:ext>
            </a:extLst>
          </p:cNvPr>
          <p:cNvSpPr txBox="1"/>
          <p:nvPr/>
        </p:nvSpPr>
        <p:spPr>
          <a:xfrm>
            <a:off x="1095202" y="18010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21" name="Google Shape;147;g1a3ff36d471_0_13">
            <a:extLst>
              <a:ext uri="{FF2B5EF4-FFF2-40B4-BE49-F238E27FC236}">
                <a16:creationId xmlns:a16="http://schemas.microsoft.com/office/drawing/2014/main" id="{EB07FED2-2037-1E59-4D8C-6DE046D5396F}"/>
              </a:ext>
            </a:extLst>
          </p:cNvPr>
          <p:cNvCxnSpPr>
            <a:cxnSpLocks/>
          </p:cNvCxnSpPr>
          <p:nvPr/>
        </p:nvCxnSpPr>
        <p:spPr>
          <a:xfrm flipH="1">
            <a:off x="10142210" y="3276923"/>
            <a:ext cx="731082" cy="81897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FD6610A-C3AA-DDC4-5E30-973CCECDAFC8}"/>
              </a:ext>
            </a:extLst>
          </p:cNvPr>
          <p:cNvSpPr txBox="1"/>
          <p:nvPr/>
        </p:nvSpPr>
        <p:spPr>
          <a:xfrm>
            <a:off x="9996055" y="3276924"/>
            <a:ext cx="1553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Error</a:t>
            </a:r>
            <a:endParaRPr lang="en-US" sz="15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145;g1a3ff36d471_0_13">
            <a:extLst>
              <a:ext uri="{FF2B5EF4-FFF2-40B4-BE49-F238E27FC236}">
                <a16:creationId xmlns:a16="http://schemas.microsoft.com/office/drawing/2014/main" id="{63B3ED86-B7A1-0AD8-E922-67BCDAA3F02B}"/>
              </a:ext>
            </a:extLst>
          </p:cNvPr>
          <p:cNvCxnSpPr>
            <a:cxnSpLocks/>
          </p:cNvCxnSpPr>
          <p:nvPr/>
        </p:nvCxnSpPr>
        <p:spPr>
          <a:xfrm flipV="1">
            <a:off x="8705018" y="4150057"/>
            <a:ext cx="673895" cy="76958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FF2DAF6-0895-46E7-530F-EFC0D12134BC}"/>
              </a:ext>
            </a:extLst>
          </p:cNvPr>
          <p:cNvSpPr/>
          <p:nvPr/>
        </p:nvSpPr>
        <p:spPr>
          <a:xfrm>
            <a:off x="10406257" y="2221850"/>
            <a:ext cx="1738521" cy="105507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Test each method once</a:t>
            </a:r>
          </a:p>
          <a:p>
            <a:pPr algn="ctr"/>
            <a:endParaRPr lang="en-US" dirty="0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724794E-5FD1-9666-BD3B-B38CC99131E6}"/>
              </a:ext>
            </a:extLst>
          </p:cNvPr>
          <p:cNvSpPr/>
          <p:nvPr/>
        </p:nvSpPr>
        <p:spPr>
          <a:xfrm>
            <a:off x="10453479" y="4065663"/>
            <a:ext cx="1738521" cy="125910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Data ready to use</a:t>
            </a:r>
          </a:p>
          <a:p>
            <a:pPr algn="ctr"/>
            <a:endParaRPr lang="en-US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86A5F2E-1ED4-A8D3-9C12-32986876EF22}"/>
              </a:ext>
            </a:extLst>
          </p:cNvPr>
          <p:cNvSpPr/>
          <p:nvPr/>
        </p:nvSpPr>
        <p:spPr>
          <a:xfrm>
            <a:off x="8509653" y="4068555"/>
            <a:ext cx="1738521" cy="125910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Find &amp; remove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problem variable.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CBC0903-F429-DC33-4877-8CA0E6B6E4B5}"/>
              </a:ext>
            </a:extLst>
          </p:cNvPr>
          <p:cNvCxnSpPr>
            <a:cxnSpLocks/>
          </p:cNvCxnSpPr>
          <p:nvPr/>
        </p:nvCxnSpPr>
        <p:spPr>
          <a:xfrm>
            <a:off x="11274136" y="3276924"/>
            <a:ext cx="275771" cy="791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oogle Shape;145;g1a3ff36d471_0_13">
            <a:extLst>
              <a:ext uri="{FF2B5EF4-FFF2-40B4-BE49-F238E27FC236}">
                <a16:creationId xmlns:a16="http://schemas.microsoft.com/office/drawing/2014/main" id="{CDFA6F2A-B5B9-0F69-59E8-6903588F13CA}"/>
              </a:ext>
            </a:extLst>
          </p:cNvPr>
          <p:cNvCxnSpPr>
            <a:cxnSpLocks/>
          </p:cNvCxnSpPr>
          <p:nvPr/>
        </p:nvCxnSpPr>
        <p:spPr>
          <a:xfrm flipV="1">
            <a:off x="10224655" y="3276924"/>
            <a:ext cx="731082" cy="873133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502941C-2DE4-ADDC-6BB2-6D6C6D5A3A3E}"/>
              </a:ext>
            </a:extLst>
          </p:cNvPr>
          <p:cNvSpPr txBox="1"/>
          <p:nvPr/>
        </p:nvSpPr>
        <p:spPr>
          <a:xfrm>
            <a:off x="2599738" y="585566"/>
            <a:ext cx="95410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Methods: Cleaning/Preprocessing</a:t>
            </a:r>
          </a:p>
        </p:txBody>
      </p:sp>
    </p:spTree>
    <p:extLst>
      <p:ext uri="{BB962C8B-B14F-4D97-AF65-F5344CB8AC3E}">
        <p14:creationId xmlns:p14="http://schemas.microsoft.com/office/powerpoint/2010/main" val="1200754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5;g1abd39dd563_0_0">
            <a:extLst>
              <a:ext uri="{FF2B5EF4-FFF2-40B4-BE49-F238E27FC236}">
                <a16:creationId xmlns:a16="http://schemas.microsoft.com/office/drawing/2014/main" id="{AA2AB621-9BF8-5323-56CA-A451BA88556D}"/>
              </a:ext>
            </a:extLst>
          </p:cNvPr>
          <p:cNvSpPr/>
          <p:nvPr/>
        </p:nvSpPr>
        <p:spPr>
          <a:xfrm>
            <a:off x="6286500" y="1474475"/>
            <a:ext cx="5623500" cy="411480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56;g1abd39dd563_0_0">
            <a:extLst>
              <a:ext uri="{FF2B5EF4-FFF2-40B4-BE49-F238E27FC236}">
                <a16:creationId xmlns:a16="http://schemas.microsoft.com/office/drawing/2014/main" id="{502F76A3-10C3-BCCE-1581-5590D63AAF23}"/>
              </a:ext>
            </a:extLst>
          </p:cNvPr>
          <p:cNvSpPr/>
          <p:nvPr/>
        </p:nvSpPr>
        <p:spPr>
          <a:xfrm>
            <a:off x="6423650" y="1937400"/>
            <a:ext cx="3029100" cy="309750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57;g1abd39dd563_0_0">
            <a:extLst>
              <a:ext uri="{FF2B5EF4-FFF2-40B4-BE49-F238E27FC236}">
                <a16:creationId xmlns:a16="http://schemas.microsoft.com/office/drawing/2014/main" id="{1046101B-7431-5744-7EEB-4E73024137FF}"/>
              </a:ext>
            </a:extLst>
          </p:cNvPr>
          <p:cNvSpPr/>
          <p:nvPr/>
        </p:nvSpPr>
        <p:spPr>
          <a:xfrm>
            <a:off x="9827838" y="1967850"/>
            <a:ext cx="1859400" cy="303660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58;g1abd39dd563_0_0">
            <a:extLst>
              <a:ext uri="{FF2B5EF4-FFF2-40B4-BE49-F238E27FC236}">
                <a16:creationId xmlns:a16="http://schemas.microsoft.com/office/drawing/2014/main" id="{BC2FF56C-C1D8-B197-F70E-9E96798419F7}"/>
              </a:ext>
            </a:extLst>
          </p:cNvPr>
          <p:cNvSpPr txBox="1"/>
          <p:nvPr/>
        </p:nvSpPr>
        <p:spPr>
          <a:xfrm>
            <a:off x="7280925" y="2013575"/>
            <a:ext cx="1645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70% Train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59;g1abd39dd563_0_0">
            <a:extLst>
              <a:ext uri="{FF2B5EF4-FFF2-40B4-BE49-F238E27FC236}">
                <a16:creationId xmlns:a16="http://schemas.microsoft.com/office/drawing/2014/main" id="{1B7FF683-2D55-CB55-BB70-2E39C686CE4E}"/>
              </a:ext>
            </a:extLst>
          </p:cNvPr>
          <p:cNvSpPr txBox="1"/>
          <p:nvPr/>
        </p:nvSpPr>
        <p:spPr>
          <a:xfrm>
            <a:off x="10052700" y="2013575"/>
            <a:ext cx="1409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30% Test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60;g1abd39dd563_0_0">
            <a:extLst>
              <a:ext uri="{FF2B5EF4-FFF2-40B4-BE49-F238E27FC236}">
                <a16:creationId xmlns:a16="http://schemas.microsoft.com/office/drawing/2014/main" id="{9B8BE57F-8576-1823-7A28-B7638AF513ED}"/>
              </a:ext>
            </a:extLst>
          </p:cNvPr>
          <p:cNvSpPr txBox="1"/>
          <p:nvPr/>
        </p:nvSpPr>
        <p:spPr>
          <a:xfrm>
            <a:off x="7792350" y="635050"/>
            <a:ext cx="2611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Part 1: Benchmarking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Google Shape;161;g1abd39dd563_0_0">
            <a:extLst>
              <a:ext uri="{FF2B5EF4-FFF2-40B4-BE49-F238E27FC236}">
                <a16:creationId xmlns:a16="http://schemas.microsoft.com/office/drawing/2014/main" id="{A1B69864-7995-1D14-C305-3106ED556375}"/>
              </a:ext>
            </a:extLst>
          </p:cNvPr>
          <p:cNvCxnSpPr/>
          <p:nvPr/>
        </p:nvCxnSpPr>
        <p:spPr>
          <a:xfrm>
            <a:off x="8401050" y="3451850"/>
            <a:ext cx="2183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162;g1abd39dd563_0_0">
            <a:extLst>
              <a:ext uri="{FF2B5EF4-FFF2-40B4-BE49-F238E27FC236}">
                <a16:creationId xmlns:a16="http://schemas.microsoft.com/office/drawing/2014/main" id="{1C68EAAE-DD55-C648-FBED-E80BD4F589A6}"/>
              </a:ext>
            </a:extLst>
          </p:cNvPr>
          <p:cNvSpPr txBox="1"/>
          <p:nvPr/>
        </p:nvSpPr>
        <p:spPr>
          <a:xfrm>
            <a:off x="8576250" y="2974850"/>
            <a:ext cx="2183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alibri"/>
                <a:ea typeface="Calibri"/>
                <a:cs typeface="Calibri"/>
                <a:sym typeface="Calibri"/>
              </a:rPr>
              <a:t>Trained Models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" name="Google Shape;163;g1abd39dd563_0_0">
            <a:extLst>
              <a:ext uri="{FF2B5EF4-FFF2-40B4-BE49-F238E27FC236}">
                <a16:creationId xmlns:a16="http://schemas.microsoft.com/office/drawing/2014/main" id="{C9D40ED7-8EAE-52A8-110F-28765728F102}"/>
              </a:ext>
            </a:extLst>
          </p:cNvPr>
          <p:cNvCxnSpPr/>
          <p:nvPr/>
        </p:nvCxnSpPr>
        <p:spPr>
          <a:xfrm flipH="1">
            <a:off x="7873475" y="4560575"/>
            <a:ext cx="1800" cy="159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" name="Google Shape;164;g1abd39dd563_0_0">
            <a:extLst>
              <a:ext uri="{FF2B5EF4-FFF2-40B4-BE49-F238E27FC236}">
                <a16:creationId xmlns:a16="http://schemas.microsoft.com/office/drawing/2014/main" id="{81FFB6F4-3C71-6BBB-FF30-591808EBB2AD}"/>
              </a:ext>
            </a:extLst>
          </p:cNvPr>
          <p:cNvCxnSpPr/>
          <p:nvPr/>
        </p:nvCxnSpPr>
        <p:spPr>
          <a:xfrm flipH="1">
            <a:off x="10756650" y="4484375"/>
            <a:ext cx="1800" cy="1592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Google Shape;165;g1abd39dd563_0_0">
            <a:extLst>
              <a:ext uri="{FF2B5EF4-FFF2-40B4-BE49-F238E27FC236}">
                <a16:creationId xmlns:a16="http://schemas.microsoft.com/office/drawing/2014/main" id="{1D37576C-39BA-8A7E-684A-8028F92E47D9}"/>
              </a:ext>
            </a:extLst>
          </p:cNvPr>
          <p:cNvSpPr txBox="1"/>
          <p:nvPr/>
        </p:nvSpPr>
        <p:spPr>
          <a:xfrm>
            <a:off x="7128475" y="6153275"/>
            <a:ext cx="2183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alibri"/>
                <a:ea typeface="Calibri"/>
                <a:cs typeface="Calibri"/>
                <a:sym typeface="Calibri"/>
              </a:rPr>
              <a:t>Training Time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66;g1abd39dd563_0_0">
            <a:extLst>
              <a:ext uri="{FF2B5EF4-FFF2-40B4-BE49-F238E27FC236}">
                <a16:creationId xmlns:a16="http://schemas.microsoft.com/office/drawing/2014/main" id="{F062112C-19EC-E9A4-0278-A1C547E23F43}"/>
              </a:ext>
            </a:extLst>
          </p:cNvPr>
          <p:cNvSpPr txBox="1"/>
          <p:nvPr/>
        </p:nvSpPr>
        <p:spPr>
          <a:xfrm>
            <a:off x="9827850" y="6153275"/>
            <a:ext cx="2183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alibri"/>
                <a:ea typeface="Calibri"/>
                <a:cs typeface="Calibri"/>
                <a:sym typeface="Calibri"/>
              </a:rPr>
              <a:t>AUC, Accuracy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7;g1abd39dd563_0_0">
            <a:extLst>
              <a:ext uri="{FF2B5EF4-FFF2-40B4-BE49-F238E27FC236}">
                <a16:creationId xmlns:a16="http://schemas.microsoft.com/office/drawing/2014/main" id="{8CA49556-BA31-E4D5-E56A-125F29ADE55C}"/>
              </a:ext>
            </a:extLst>
          </p:cNvPr>
          <p:cNvSpPr txBox="1"/>
          <p:nvPr/>
        </p:nvSpPr>
        <p:spPr>
          <a:xfrm>
            <a:off x="8694150" y="1474475"/>
            <a:ext cx="1133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68;g1abd39dd563_0_0">
            <a:extLst>
              <a:ext uri="{FF2B5EF4-FFF2-40B4-BE49-F238E27FC236}">
                <a16:creationId xmlns:a16="http://schemas.microsoft.com/office/drawing/2014/main" id="{957B88EF-BB54-1B89-00F4-E66B345A6207}"/>
              </a:ext>
            </a:extLst>
          </p:cNvPr>
          <p:cNvSpPr txBox="1"/>
          <p:nvPr/>
        </p:nvSpPr>
        <p:spPr>
          <a:xfrm>
            <a:off x="7233000" y="997475"/>
            <a:ext cx="405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latin typeface="Calibri"/>
                <a:ea typeface="Calibri"/>
                <a:cs typeface="Calibri"/>
                <a:sym typeface="Calibri"/>
              </a:rPr>
              <a:t>For 20 datasets, 20 iterations each</a:t>
            </a:r>
            <a:endParaRPr sz="19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69;g1abd39dd563_0_0">
            <a:extLst>
              <a:ext uri="{FF2B5EF4-FFF2-40B4-BE49-F238E27FC236}">
                <a16:creationId xmlns:a16="http://schemas.microsoft.com/office/drawing/2014/main" id="{ED56D08A-745B-7662-EEE6-0FB5DBF0AB3B}"/>
              </a:ext>
            </a:extLst>
          </p:cNvPr>
          <p:cNvSpPr txBox="1">
            <a:spLocks/>
          </p:cNvSpPr>
          <p:nvPr/>
        </p:nvSpPr>
        <p:spPr>
          <a:xfrm>
            <a:off x="620800" y="997475"/>
            <a:ext cx="5623500" cy="58095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>
              <a:buSzPts val="1800"/>
              <a:buFont typeface="Wingdings 3" charset="2"/>
              <a:buChar char="•"/>
            </a:pPr>
            <a:r>
              <a:rPr lang="en-US" dirty="0"/>
              <a:t>For each dataset (20 total):</a:t>
            </a:r>
          </a:p>
          <a:p>
            <a:pPr marL="914400" lvl="1" indent="-3429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1800" dirty="0"/>
              <a:t>For 20 iterations:</a:t>
            </a:r>
          </a:p>
          <a:p>
            <a:pPr marL="1371600" lvl="2" indent="-3429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1800" dirty="0"/>
              <a:t>Train (70%) - Test (30%) split</a:t>
            </a:r>
          </a:p>
          <a:p>
            <a:pPr marL="1371600" lvl="2" indent="-3429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1800" dirty="0"/>
              <a:t>Train each model on the training dataset; record the training time</a:t>
            </a:r>
          </a:p>
          <a:p>
            <a:pPr marL="1371600" lvl="2" indent="-3429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1800" dirty="0"/>
              <a:t>Test each model on the test dataset; record the model AUC</a:t>
            </a:r>
          </a:p>
          <a:p>
            <a:pPr marL="1371600" indent="0">
              <a:buFont typeface="Wingdings 3" charset="2"/>
              <a:buNone/>
            </a:pPr>
            <a:endParaRPr lang="en-US" dirty="0"/>
          </a:p>
          <a:p>
            <a:pPr marL="457200">
              <a:buSzPts val="1800"/>
              <a:buFont typeface="Wingdings 3" charset="2"/>
              <a:buChar char="•"/>
            </a:pPr>
            <a:r>
              <a:rPr lang="en-US" dirty="0"/>
              <a:t>For each iteration, all models are trained and tested on the same dataset, </a:t>
            </a:r>
            <a:r>
              <a:rPr lang="en-US" b="1" dirty="0"/>
              <a:t>using all variables</a:t>
            </a:r>
            <a:endParaRPr lang="en-US" dirty="0"/>
          </a:p>
          <a:p>
            <a:pPr marL="457200">
              <a:buSzPts val="1800"/>
              <a:buFont typeface="Wingdings 3" charset="2"/>
              <a:buChar char="•"/>
            </a:pPr>
            <a:r>
              <a:rPr lang="en-US" dirty="0"/>
              <a:t>To accomplish the above, an R function was written to accept a dataset and # of iterations, record the training time, test AUC and test accuracy</a:t>
            </a:r>
            <a:r>
              <a:rPr lang="en-US" dirty="0">
                <a:solidFill>
                  <a:srgbClr val="374151"/>
                </a:solidFill>
                <a:latin typeface="+mj-lt"/>
              </a:rPr>
              <a:t>,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+mj-lt"/>
              </a:rPr>
              <a:t> Precision, error rate and F-score</a:t>
            </a:r>
            <a:r>
              <a:rPr lang="en-US" dirty="0"/>
              <a:t> for each model at each iteration, and return </a:t>
            </a:r>
            <a:r>
              <a:rPr lang="en-US" dirty="0" err="1"/>
              <a:t>dataframes</a:t>
            </a:r>
            <a:r>
              <a:rPr lang="en-US" dirty="0"/>
              <a:t> containing the values</a:t>
            </a:r>
          </a:p>
          <a:p>
            <a:pPr marL="457200">
              <a:buSzPts val="1800"/>
              <a:buFont typeface="Wingdings 3" charset="2"/>
              <a:buChar char="•"/>
            </a:pPr>
            <a:r>
              <a:rPr lang="en-US" dirty="0"/>
              <a:t>This function was used to loop over all 20 datasets in an R script</a:t>
            </a:r>
          </a:p>
        </p:txBody>
      </p:sp>
      <p:sp>
        <p:nvSpPr>
          <p:cNvPr id="19" name="Google Shape;170;g1abd39dd563_0_0">
            <a:extLst>
              <a:ext uri="{FF2B5EF4-FFF2-40B4-BE49-F238E27FC236}">
                <a16:creationId xmlns:a16="http://schemas.microsoft.com/office/drawing/2014/main" id="{FCE9F16E-2D7E-7450-8C71-DFE193A68594}"/>
              </a:ext>
            </a:extLst>
          </p:cNvPr>
          <p:cNvSpPr txBox="1">
            <a:spLocks/>
          </p:cNvSpPr>
          <p:nvPr/>
        </p:nvSpPr>
        <p:spPr>
          <a:xfrm>
            <a:off x="4147200" y="0"/>
            <a:ext cx="3897600" cy="7545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3200" b="1" dirty="0"/>
              <a:t>Methods: Part 1</a:t>
            </a:r>
          </a:p>
        </p:txBody>
      </p:sp>
    </p:spTree>
    <p:extLst>
      <p:ext uri="{BB962C8B-B14F-4D97-AF65-F5344CB8AC3E}">
        <p14:creationId xmlns:p14="http://schemas.microsoft.com/office/powerpoint/2010/main" val="1576500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5;g1af0bf4837f_0_2">
            <a:extLst>
              <a:ext uri="{FF2B5EF4-FFF2-40B4-BE49-F238E27FC236}">
                <a16:creationId xmlns:a16="http://schemas.microsoft.com/office/drawing/2014/main" id="{E44F270A-F4B0-E0B5-49E8-EFD158EA5461}"/>
              </a:ext>
            </a:extLst>
          </p:cNvPr>
          <p:cNvSpPr/>
          <p:nvPr/>
        </p:nvSpPr>
        <p:spPr>
          <a:xfrm>
            <a:off x="6145525" y="1463075"/>
            <a:ext cx="5787300" cy="411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76;g1af0bf4837f_0_2">
            <a:extLst>
              <a:ext uri="{FF2B5EF4-FFF2-40B4-BE49-F238E27FC236}">
                <a16:creationId xmlns:a16="http://schemas.microsoft.com/office/drawing/2014/main" id="{467E4B0C-47D6-CC59-514A-815A833126E2}"/>
              </a:ext>
            </a:extLst>
          </p:cNvPr>
          <p:cNvSpPr/>
          <p:nvPr/>
        </p:nvSpPr>
        <p:spPr>
          <a:xfrm>
            <a:off x="9843500" y="1872600"/>
            <a:ext cx="1859400" cy="3112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77;g1af0bf4837f_0_2">
            <a:extLst>
              <a:ext uri="{FF2B5EF4-FFF2-40B4-BE49-F238E27FC236}">
                <a16:creationId xmlns:a16="http://schemas.microsoft.com/office/drawing/2014/main" id="{DE64CFDF-967E-16A7-A648-C33AA932507B}"/>
              </a:ext>
            </a:extLst>
          </p:cNvPr>
          <p:cNvSpPr/>
          <p:nvPr/>
        </p:nvSpPr>
        <p:spPr>
          <a:xfrm>
            <a:off x="6358875" y="1880250"/>
            <a:ext cx="3029100" cy="3097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78;g1af0bf4837f_0_2">
            <a:extLst>
              <a:ext uri="{FF2B5EF4-FFF2-40B4-BE49-F238E27FC236}">
                <a16:creationId xmlns:a16="http://schemas.microsoft.com/office/drawing/2014/main" id="{6675BBC3-08BC-4890-1E7C-6C7F589EFF27}"/>
              </a:ext>
            </a:extLst>
          </p:cNvPr>
          <p:cNvSpPr/>
          <p:nvPr/>
        </p:nvSpPr>
        <p:spPr>
          <a:xfrm>
            <a:off x="6553325" y="2286000"/>
            <a:ext cx="2611800" cy="132600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79;g1af0bf4837f_0_2">
            <a:extLst>
              <a:ext uri="{FF2B5EF4-FFF2-40B4-BE49-F238E27FC236}">
                <a16:creationId xmlns:a16="http://schemas.microsoft.com/office/drawing/2014/main" id="{4120367E-0824-7933-C6FB-62BB27A4D2E3}"/>
              </a:ext>
            </a:extLst>
          </p:cNvPr>
          <p:cNvSpPr txBox="1"/>
          <p:nvPr/>
        </p:nvSpPr>
        <p:spPr>
          <a:xfrm>
            <a:off x="7130550" y="1880250"/>
            <a:ext cx="1645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70% Train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80;g1af0bf4837f_0_2">
            <a:extLst>
              <a:ext uri="{FF2B5EF4-FFF2-40B4-BE49-F238E27FC236}">
                <a16:creationId xmlns:a16="http://schemas.microsoft.com/office/drawing/2014/main" id="{46C0D025-7A58-CF0D-FEE3-5E30274BBC37}"/>
              </a:ext>
            </a:extLst>
          </p:cNvPr>
          <p:cNvSpPr txBox="1"/>
          <p:nvPr/>
        </p:nvSpPr>
        <p:spPr>
          <a:xfrm>
            <a:off x="9843500" y="1956425"/>
            <a:ext cx="1859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30% 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Final Test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81;g1af0bf4837f_0_2">
            <a:extLst>
              <a:ext uri="{FF2B5EF4-FFF2-40B4-BE49-F238E27FC236}">
                <a16:creationId xmlns:a16="http://schemas.microsoft.com/office/drawing/2014/main" id="{75A0507E-6501-D4CE-D7C7-C3D9DB7C4240}"/>
              </a:ext>
            </a:extLst>
          </p:cNvPr>
          <p:cNvSpPr txBox="1"/>
          <p:nvPr/>
        </p:nvSpPr>
        <p:spPr>
          <a:xfrm>
            <a:off x="6870225" y="2357300"/>
            <a:ext cx="1645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latin typeface="Calibri"/>
                <a:ea typeface="Calibri"/>
                <a:cs typeface="Calibri"/>
                <a:sym typeface="Calibri"/>
              </a:rPr>
              <a:t>70% Validation Train</a:t>
            </a:r>
            <a:endParaRPr sz="16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82;g1af0bf4837f_0_2">
            <a:extLst>
              <a:ext uri="{FF2B5EF4-FFF2-40B4-BE49-F238E27FC236}">
                <a16:creationId xmlns:a16="http://schemas.microsoft.com/office/drawing/2014/main" id="{6926571D-2491-096A-0339-03F6CB3E18CD}"/>
              </a:ext>
            </a:extLst>
          </p:cNvPr>
          <p:cNvSpPr/>
          <p:nvPr/>
        </p:nvSpPr>
        <p:spPr>
          <a:xfrm>
            <a:off x="6567525" y="3829050"/>
            <a:ext cx="2611800" cy="788700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83;g1af0bf4837f_0_2">
            <a:extLst>
              <a:ext uri="{FF2B5EF4-FFF2-40B4-BE49-F238E27FC236}">
                <a16:creationId xmlns:a16="http://schemas.microsoft.com/office/drawing/2014/main" id="{5E80029F-97B2-F186-84AC-7309F3491275}"/>
              </a:ext>
            </a:extLst>
          </p:cNvPr>
          <p:cNvSpPr txBox="1"/>
          <p:nvPr/>
        </p:nvSpPr>
        <p:spPr>
          <a:xfrm>
            <a:off x="6896100" y="3884850"/>
            <a:ext cx="1645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alibri"/>
                <a:ea typeface="Calibri"/>
                <a:cs typeface="Calibri"/>
                <a:sym typeface="Calibri"/>
              </a:rPr>
              <a:t>30% Validation Test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84;g1af0bf4837f_0_2">
            <a:extLst>
              <a:ext uri="{FF2B5EF4-FFF2-40B4-BE49-F238E27FC236}">
                <a16:creationId xmlns:a16="http://schemas.microsoft.com/office/drawing/2014/main" id="{FFE0BCF7-D280-E446-D4AD-52EE1CA500BA}"/>
              </a:ext>
            </a:extLst>
          </p:cNvPr>
          <p:cNvSpPr txBox="1"/>
          <p:nvPr/>
        </p:nvSpPr>
        <p:spPr>
          <a:xfrm>
            <a:off x="7448800" y="640250"/>
            <a:ext cx="3436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Part 2: Forward Selection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" name="Google Shape;185;g1af0bf4837f_0_2">
            <a:extLst>
              <a:ext uri="{FF2B5EF4-FFF2-40B4-BE49-F238E27FC236}">
                <a16:creationId xmlns:a16="http://schemas.microsoft.com/office/drawing/2014/main" id="{EEE4C34F-2127-1708-E65D-A902A0D66087}"/>
              </a:ext>
            </a:extLst>
          </p:cNvPr>
          <p:cNvCxnSpPr/>
          <p:nvPr/>
        </p:nvCxnSpPr>
        <p:spPr>
          <a:xfrm flipH="1">
            <a:off x="8627850" y="3034400"/>
            <a:ext cx="1800" cy="1093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186;g1af0bf4837f_0_2">
            <a:extLst>
              <a:ext uri="{FF2B5EF4-FFF2-40B4-BE49-F238E27FC236}">
                <a16:creationId xmlns:a16="http://schemas.microsoft.com/office/drawing/2014/main" id="{5C1699C5-A898-3BBD-486B-0FCA51B24381}"/>
              </a:ext>
            </a:extLst>
          </p:cNvPr>
          <p:cNvCxnSpPr/>
          <p:nvPr/>
        </p:nvCxnSpPr>
        <p:spPr>
          <a:xfrm rot="10800000" flipH="1">
            <a:off x="9179325" y="3580400"/>
            <a:ext cx="1133700" cy="1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Google Shape;187;g1af0bf4837f_0_2">
            <a:extLst>
              <a:ext uri="{FF2B5EF4-FFF2-40B4-BE49-F238E27FC236}">
                <a16:creationId xmlns:a16="http://schemas.microsoft.com/office/drawing/2014/main" id="{97FA6404-0B36-4D24-AD45-42E12CAA9B76}"/>
              </a:ext>
            </a:extLst>
          </p:cNvPr>
          <p:cNvSpPr txBox="1"/>
          <p:nvPr/>
        </p:nvSpPr>
        <p:spPr>
          <a:xfrm>
            <a:off x="9116674" y="2783850"/>
            <a:ext cx="18489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alibri"/>
                <a:ea typeface="Calibri"/>
                <a:cs typeface="Calibri"/>
                <a:sym typeface="Calibri"/>
              </a:rPr>
              <a:t>Model trained on best predictors</a:t>
            </a:r>
            <a:endParaRPr sz="16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88;g1af0bf4837f_0_2">
            <a:extLst>
              <a:ext uri="{FF2B5EF4-FFF2-40B4-BE49-F238E27FC236}">
                <a16:creationId xmlns:a16="http://schemas.microsoft.com/office/drawing/2014/main" id="{5309340F-030B-DEAB-AF17-DEF7370E8432}"/>
              </a:ext>
            </a:extLst>
          </p:cNvPr>
          <p:cNvCxnSpPr/>
          <p:nvPr/>
        </p:nvCxnSpPr>
        <p:spPr>
          <a:xfrm flipH="1">
            <a:off x="6972425" y="4834800"/>
            <a:ext cx="10500" cy="1417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Google Shape;189;g1af0bf4837f_0_2">
            <a:extLst>
              <a:ext uri="{FF2B5EF4-FFF2-40B4-BE49-F238E27FC236}">
                <a16:creationId xmlns:a16="http://schemas.microsoft.com/office/drawing/2014/main" id="{AAB45E7F-0173-514C-A41E-0717F40C6174}"/>
              </a:ext>
            </a:extLst>
          </p:cNvPr>
          <p:cNvSpPr txBox="1"/>
          <p:nvPr/>
        </p:nvSpPr>
        <p:spPr>
          <a:xfrm>
            <a:off x="5886125" y="6252300"/>
            <a:ext cx="274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latin typeface="Calibri"/>
                <a:ea typeface="Calibri"/>
                <a:cs typeface="Calibri"/>
                <a:sym typeface="Calibri"/>
              </a:rPr>
              <a:t>Formulas, Training Time</a:t>
            </a:r>
            <a:endParaRPr sz="1900" b="1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0;g1af0bf4837f_0_2">
            <a:extLst>
              <a:ext uri="{FF2B5EF4-FFF2-40B4-BE49-F238E27FC236}">
                <a16:creationId xmlns:a16="http://schemas.microsoft.com/office/drawing/2014/main" id="{728D55A5-729B-87E7-F901-3DF0CC476EB7}"/>
              </a:ext>
            </a:extLst>
          </p:cNvPr>
          <p:cNvCxnSpPr/>
          <p:nvPr/>
        </p:nvCxnSpPr>
        <p:spPr>
          <a:xfrm flipH="1">
            <a:off x="10885300" y="4678625"/>
            <a:ext cx="10500" cy="1417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Google Shape;191;g1af0bf4837f_0_2">
            <a:extLst>
              <a:ext uri="{FF2B5EF4-FFF2-40B4-BE49-F238E27FC236}">
                <a16:creationId xmlns:a16="http://schemas.microsoft.com/office/drawing/2014/main" id="{FAA550ED-8D5F-C021-2CC5-746DF3993405}"/>
              </a:ext>
            </a:extLst>
          </p:cNvPr>
          <p:cNvSpPr txBox="1"/>
          <p:nvPr/>
        </p:nvSpPr>
        <p:spPr>
          <a:xfrm>
            <a:off x="10076725" y="6187550"/>
            <a:ext cx="1776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Calibri"/>
                <a:ea typeface="Calibri"/>
                <a:cs typeface="Calibri"/>
                <a:sym typeface="Calibri"/>
              </a:rPr>
              <a:t>AUC, Accuracy</a:t>
            </a:r>
            <a:endParaRPr sz="1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92;g1af0bf4837f_0_2">
            <a:extLst>
              <a:ext uri="{FF2B5EF4-FFF2-40B4-BE49-F238E27FC236}">
                <a16:creationId xmlns:a16="http://schemas.microsoft.com/office/drawing/2014/main" id="{A6F6CC72-0BCD-C2DE-B902-B025BB9732D0}"/>
              </a:ext>
            </a:extLst>
          </p:cNvPr>
          <p:cNvSpPr txBox="1"/>
          <p:nvPr/>
        </p:nvSpPr>
        <p:spPr>
          <a:xfrm>
            <a:off x="7213125" y="1029838"/>
            <a:ext cx="405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latin typeface="Calibri"/>
                <a:ea typeface="Calibri"/>
                <a:cs typeface="Calibri"/>
                <a:sym typeface="Calibri"/>
              </a:rPr>
              <a:t>For 20 datasets, one iteration each</a:t>
            </a:r>
            <a:endParaRPr sz="19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93;g1af0bf4837f_0_2">
            <a:extLst>
              <a:ext uri="{FF2B5EF4-FFF2-40B4-BE49-F238E27FC236}">
                <a16:creationId xmlns:a16="http://schemas.microsoft.com/office/drawing/2014/main" id="{9DC4856D-8B1F-8E8C-9B5F-C80ABBC8C20C}"/>
              </a:ext>
            </a:extLst>
          </p:cNvPr>
          <p:cNvSpPr txBox="1">
            <a:spLocks/>
          </p:cNvSpPr>
          <p:nvPr/>
        </p:nvSpPr>
        <p:spPr>
          <a:xfrm>
            <a:off x="3793800" y="-38500"/>
            <a:ext cx="4604400" cy="9030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3200" b="1" dirty="0"/>
              <a:t>Methods: Part 2</a:t>
            </a:r>
          </a:p>
        </p:txBody>
      </p:sp>
      <p:sp>
        <p:nvSpPr>
          <p:cNvPr id="23" name="Google Shape;194;g1af0bf4837f_0_2">
            <a:extLst>
              <a:ext uri="{FF2B5EF4-FFF2-40B4-BE49-F238E27FC236}">
                <a16:creationId xmlns:a16="http://schemas.microsoft.com/office/drawing/2014/main" id="{596157F0-43D2-0CEB-918B-8BCF8AD056CD}"/>
              </a:ext>
            </a:extLst>
          </p:cNvPr>
          <p:cNvSpPr txBox="1">
            <a:spLocks/>
          </p:cNvSpPr>
          <p:nvPr/>
        </p:nvSpPr>
        <p:spPr>
          <a:xfrm>
            <a:off x="1204000" y="886550"/>
            <a:ext cx="4979700" cy="58179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>
              <a:buSzPts val="1800"/>
              <a:buFont typeface="Wingdings 3" charset="2"/>
              <a:buChar char="•"/>
            </a:pPr>
            <a:r>
              <a:rPr lang="en-US" dirty="0"/>
              <a:t>For each dataset:</a:t>
            </a:r>
          </a:p>
          <a:p>
            <a:pPr marL="914400" lvl="1" indent="-3429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1800" dirty="0"/>
              <a:t>Split 70% training and 30% final testing</a:t>
            </a:r>
          </a:p>
          <a:p>
            <a:pPr marL="914400" lvl="1" indent="-3429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1800" dirty="0"/>
              <a:t>Split the training set again into 70% training, 30% validation</a:t>
            </a:r>
          </a:p>
          <a:p>
            <a:pPr marL="914400" lvl="1" indent="-3429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1800" dirty="0"/>
              <a:t>Use forward selection procedure on training data to select best predictors for each model to maximize validation AUC</a:t>
            </a:r>
          </a:p>
          <a:p>
            <a:pPr marL="914400" lvl="1" indent="-342900">
              <a:spcBef>
                <a:spcPts val="0"/>
              </a:spcBef>
              <a:buSzPts val="1800"/>
              <a:buFont typeface="Wingdings 3" charset="2"/>
              <a:buChar char="•"/>
            </a:pPr>
            <a:r>
              <a:rPr lang="en-US" sz="1800" dirty="0"/>
              <a:t>Test best predictors for each model on the final testing dataset and record AUC</a:t>
            </a:r>
          </a:p>
          <a:p>
            <a:pPr marL="914400" indent="0">
              <a:buFont typeface="Wingdings 3" charset="2"/>
              <a:buNone/>
            </a:pPr>
            <a:endParaRPr lang="en-US" dirty="0"/>
          </a:p>
          <a:p>
            <a:pPr marL="457200">
              <a:buSzPts val="1800"/>
              <a:buFont typeface="Wingdings 3" charset="2"/>
              <a:buChar char="•"/>
            </a:pPr>
            <a:r>
              <a:rPr lang="en-US" dirty="0"/>
              <a:t>An R function was written to accept a dataset and its training &amp; validation split along with the desired modeling method, and loop over all possible predictors, adding them if validation AUC increases, and returns the formula</a:t>
            </a:r>
          </a:p>
          <a:p>
            <a:pPr marL="457200" indent="0">
              <a:buFont typeface="Wingdings 3" charset="2"/>
              <a:buNone/>
            </a:pPr>
            <a:endParaRPr lang="en-US" dirty="0"/>
          </a:p>
          <a:p>
            <a:pPr marL="457200">
              <a:buSzPts val="1800"/>
              <a:buFont typeface="Wingdings 3" charset="2"/>
              <a:buChar char="•"/>
            </a:pPr>
            <a:r>
              <a:rPr lang="en-US" dirty="0"/>
              <a:t>This function was incorporated into an R script to get formula for each model for each dataset, and use this on the remaining test set</a:t>
            </a:r>
          </a:p>
          <a:p>
            <a:pPr marL="457200" indent="0">
              <a:buFont typeface="Wingdings 3" charset="2"/>
              <a:buNone/>
            </a:pPr>
            <a:endParaRPr lang="en-US" dirty="0"/>
          </a:p>
        </p:txBody>
      </p:sp>
      <p:cxnSp>
        <p:nvCxnSpPr>
          <p:cNvPr id="24" name="Google Shape;195;g1af0bf4837f_0_2">
            <a:extLst>
              <a:ext uri="{FF2B5EF4-FFF2-40B4-BE49-F238E27FC236}">
                <a16:creationId xmlns:a16="http://schemas.microsoft.com/office/drawing/2014/main" id="{9517F478-EE7D-F836-F1CB-3340EA687FD6}"/>
              </a:ext>
            </a:extLst>
          </p:cNvPr>
          <p:cNvCxnSpPr/>
          <p:nvPr/>
        </p:nvCxnSpPr>
        <p:spPr>
          <a:xfrm rot="10800000">
            <a:off x="6896100" y="3107800"/>
            <a:ext cx="3900" cy="901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39797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11CB9E-7EB1-DE51-0F05-28C9E7B2CF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400" y="644235"/>
            <a:ext cx="6054500" cy="6072473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6C24B5-E0D4-FA38-411F-C66EFD04E9A2}"/>
              </a:ext>
            </a:extLst>
          </p:cNvPr>
          <p:cNvSpPr/>
          <p:nvPr/>
        </p:nvSpPr>
        <p:spPr>
          <a:xfrm>
            <a:off x="4821456" y="244125"/>
            <a:ext cx="254909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wise Metrics</a:t>
            </a:r>
          </a:p>
        </p:txBody>
      </p:sp>
    </p:spTree>
    <p:extLst>
      <p:ext uri="{BB962C8B-B14F-4D97-AF65-F5344CB8AC3E}">
        <p14:creationId xmlns:p14="http://schemas.microsoft.com/office/powerpoint/2010/main" val="3262918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68BC4D-0190-692B-0DBD-6610D6786E65}"/>
              </a:ext>
            </a:extLst>
          </p:cNvPr>
          <p:cNvSpPr txBox="1"/>
          <p:nvPr/>
        </p:nvSpPr>
        <p:spPr>
          <a:xfrm>
            <a:off x="2116640" y="472398"/>
            <a:ext cx="6104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wise Metrics continued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1497C8-569C-DE23-6C6C-CB8D71909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17" y="1293693"/>
            <a:ext cx="6104659" cy="54707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DE06BF-AB3C-A294-6AE8-8770D24C8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079" y="1975151"/>
            <a:ext cx="5504104" cy="365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476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a3ff36d471_0_28"/>
          <p:cNvSpPr txBox="1">
            <a:spLocks noGrp="1"/>
          </p:cNvSpPr>
          <p:nvPr>
            <p:ph type="title" idx="4294967295"/>
          </p:nvPr>
        </p:nvSpPr>
        <p:spPr>
          <a:xfrm>
            <a:off x="1676400" y="-98425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>
                <a:solidFill>
                  <a:schemeClr val="accent1"/>
                </a:solidFill>
              </a:rPr>
              <a:t>Part 1 Results &amp; Discussion</a:t>
            </a:r>
            <a:endParaRPr sz="3700" b="1" dirty="0">
              <a:solidFill>
                <a:schemeClr val="accent1"/>
              </a:solidFill>
            </a:endParaRPr>
          </a:p>
        </p:txBody>
      </p:sp>
      <p:sp>
        <p:nvSpPr>
          <p:cNvPr id="201" name="Google Shape;201;g1a3ff36d471_0_28"/>
          <p:cNvSpPr txBox="1"/>
          <p:nvPr/>
        </p:nvSpPr>
        <p:spPr>
          <a:xfrm>
            <a:off x="7269060" y="4486885"/>
            <a:ext cx="5002604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/>
            <a:endParaRPr lang="en-ZW" sz="2000" dirty="0"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lvl="0"/>
            <a:endParaRPr lang="en-ZW" sz="2000" dirty="0"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107950" lvl="0">
              <a:buSzPts val="1900"/>
            </a:pPr>
            <a:r>
              <a:rPr lang="en-ZW" sz="2000" dirty="0">
                <a:latin typeface="Aptos" panose="020B0004020202020204" pitchFamily="34" charset="0"/>
                <a:ea typeface="Calibri"/>
                <a:cs typeface="Calibri"/>
                <a:sym typeface="Calibri"/>
              </a:rPr>
              <a:t>Based on the Analysis from the box plot All the models are relatively closer to each other except Random Forest model  which highest AUC value ~ 0.92.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CB8A0E6-DCC6-7CD9-0732-49FA496B50CC}"/>
                  </a:ext>
                </a:extLst>
              </p14:cNvPr>
              <p14:cNvContentPartPr/>
              <p14:nvPr/>
            </p14:nvContentPartPr>
            <p14:xfrm>
              <a:off x="3113581" y="2939751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CB8A0E6-DCC6-7CD9-0732-49FA496B50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9261" y="2935431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89E2C1D-74E4-C39D-F904-E24F6191D10C}"/>
                  </a:ext>
                </a:extLst>
              </p14:cNvPr>
              <p14:cNvContentPartPr/>
              <p14:nvPr/>
            </p14:nvContentPartPr>
            <p14:xfrm>
              <a:off x="4097101" y="2013831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89E2C1D-74E4-C39D-F904-E24F6191D1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92781" y="2009511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D50218-BB24-83DF-9427-FCCC2DB08A2C}"/>
                  </a:ext>
                </a:extLst>
              </p14:cNvPr>
              <p14:cNvContentPartPr/>
              <p14:nvPr/>
            </p14:nvContentPartPr>
            <p14:xfrm>
              <a:off x="4513981" y="1064511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D50218-BB24-83DF-9427-FCCC2DB08A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09661" y="1060191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55C6C84-AC63-170C-818F-C38B86684C19}"/>
                  </a:ext>
                </a:extLst>
              </p14:cNvPr>
              <p14:cNvContentPartPr/>
              <p14:nvPr/>
            </p14:nvContentPartPr>
            <p14:xfrm>
              <a:off x="4965781" y="1643751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55C6C84-AC63-170C-818F-C38B86684C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61461" y="1639431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4289E27-1FF3-2D95-51B7-6E1590D44968}"/>
                  </a:ext>
                </a:extLst>
              </p14:cNvPr>
              <p14:cNvContentPartPr/>
              <p14:nvPr/>
            </p14:nvContentPartPr>
            <p14:xfrm>
              <a:off x="7269061" y="1550871"/>
              <a:ext cx="360" cy="19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4289E27-1FF3-2D95-51B7-6E1590D4496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64741" y="1546551"/>
                <a:ext cx="900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C1A427D-46B4-2959-429F-F4DAB1B29FFD}"/>
                  </a:ext>
                </a:extLst>
              </p14:cNvPr>
              <p14:cNvContentPartPr/>
              <p14:nvPr/>
            </p14:nvContentPartPr>
            <p14:xfrm>
              <a:off x="6563101" y="2534391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C1A427D-46B4-2959-429F-F4DAB1B29F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58781" y="2530071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50EF1A9-3438-D543-446A-360AA55AD1E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155" y="1256155"/>
            <a:ext cx="5739345" cy="4057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b50124d8b7_1_12"/>
          <p:cNvSpPr txBox="1">
            <a:spLocks noGrp="1"/>
          </p:cNvSpPr>
          <p:nvPr>
            <p:ph type="title" idx="4294967295"/>
          </p:nvPr>
        </p:nvSpPr>
        <p:spPr>
          <a:xfrm>
            <a:off x="1535546" y="0"/>
            <a:ext cx="8980054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dirty="0">
                <a:solidFill>
                  <a:schemeClr val="accent1"/>
                </a:solidFill>
              </a:rPr>
              <a:t>Part 2 Results &amp; Discussion</a:t>
            </a:r>
            <a:endParaRPr sz="3700" b="1" dirty="0">
              <a:solidFill>
                <a:schemeClr val="accent1"/>
              </a:solidFill>
            </a:endParaRPr>
          </a:p>
        </p:txBody>
      </p:sp>
      <p:sp>
        <p:nvSpPr>
          <p:cNvPr id="253" name="Google Shape;253;g1b50124d8b7_1_12"/>
          <p:cNvSpPr txBox="1"/>
          <p:nvPr/>
        </p:nvSpPr>
        <p:spPr>
          <a:xfrm>
            <a:off x="8608725" y="1738650"/>
            <a:ext cx="3513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F5A480-9C14-A682-8CA4-C0A2A5DE1A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546" y="1325563"/>
            <a:ext cx="5884718" cy="37934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9B09EF-AB72-49CE-CBBC-2087466EFEDC}"/>
              </a:ext>
            </a:extLst>
          </p:cNvPr>
          <p:cNvSpPr txBox="1"/>
          <p:nvPr/>
        </p:nvSpPr>
        <p:spPr>
          <a:xfrm>
            <a:off x="6535670" y="3970489"/>
            <a:ext cx="588471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ZW" sz="2000" dirty="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ZW" sz="2000" dirty="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ZW" sz="20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Based on the Analysis from the box plots </a:t>
            </a:r>
            <a:r>
              <a:rPr lang="en-ZW" sz="2000" dirty="0" err="1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bsnsing</a:t>
            </a:r>
            <a:r>
              <a:rPr lang="en-ZW" sz="20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method has taken more time to execute the model ~2.4 due to several iterations acting as outliers</a:t>
            </a: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r>
              <a:rPr lang="en-ZW" sz="20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Tree-based methods and SVM on average took much longer to train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F6D9D7-3B4B-6F01-A545-5EA21830D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609" y="1447800"/>
            <a:ext cx="6146800" cy="3962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BE8C74-03D9-603E-0403-1107E5862ACA}"/>
              </a:ext>
            </a:extLst>
          </p:cNvPr>
          <p:cNvSpPr txBox="1"/>
          <p:nvPr/>
        </p:nvSpPr>
        <p:spPr>
          <a:xfrm>
            <a:off x="3043671" y="547893"/>
            <a:ext cx="6104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+mj-lt"/>
              </a:rPr>
              <a:t>Part 3 Results &amp; Discussion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33661A-64AB-B1CD-B77F-F19698CC3606}"/>
              </a:ext>
            </a:extLst>
          </p:cNvPr>
          <p:cNvSpPr txBox="1"/>
          <p:nvPr/>
        </p:nvSpPr>
        <p:spPr>
          <a:xfrm>
            <a:off x="7902575" y="4629169"/>
            <a:ext cx="42894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●"/>
            </a:pPr>
            <a:endParaRPr lang="en-ZW" sz="1800" dirty="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ZW" sz="1800" dirty="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10795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</a:pPr>
            <a:r>
              <a:rPr lang="en-ZW" sz="18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Based on the Analysis from the </a:t>
            </a:r>
            <a:r>
              <a:rPr lang="en-ZW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box plot</a:t>
            </a:r>
            <a:r>
              <a:rPr lang="en-ZW" sz="18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 all the models are relatively closer each other there is little high on Random Forest &gt;(0.8) and there are outliers in naive bayes model.</a:t>
            </a:r>
            <a:endParaRPr lang="en-ZW" dirty="0">
              <a:solidFill>
                <a:schemeClr val="dk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430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b50124d8b7_2_4"/>
          <p:cNvSpPr txBox="1">
            <a:spLocks noGrp="1"/>
          </p:cNvSpPr>
          <p:nvPr>
            <p:ph type="title" idx="4294967295"/>
          </p:nvPr>
        </p:nvSpPr>
        <p:spPr>
          <a:xfrm>
            <a:off x="838200" y="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accent1"/>
                </a:solidFill>
              </a:rPr>
              <a:t>Part 1 Results &amp; Discussion</a:t>
            </a:r>
            <a:endParaRPr sz="4000" b="1" dirty="0">
              <a:solidFill>
                <a:schemeClr val="accent1"/>
              </a:solidFill>
            </a:endParaRPr>
          </a:p>
        </p:txBody>
      </p:sp>
      <p:sp>
        <p:nvSpPr>
          <p:cNvPr id="223" name="Google Shape;223;g1b50124d8b7_2_4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CE8A35-B867-EEA8-BD38-5C585A2FB3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900" y="1478100"/>
            <a:ext cx="6324600" cy="39147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4F3A2F-D9A6-178A-49F3-F432DB2498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536" y="1603003"/>
            <a:ext cx="5718464" cy="365199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0;g1b50124d8b7_2_0">
            <a:extLst>
              <a:ext uri="{FF2B5EF4-FFF2-40B4-BE49-F238E27FC236}">
                <a16:creationId xmlns:a16="http://schemas.microsoft.com/office/drawing/2014/main" id="{69FBEC4D-63CF-3D59-A17D-A5989A4ADD6B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7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4000" b="1" dirty="0">
                <a:solidFill>
                  <a:schemeClr val="accent1"/>
                </a:solidFill>
              </a:rPr>
              <a:t>Part 1 Results &amp; Discussion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54936B-757E-E953-7667-2DFDD25BA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356" y="1433945"/>
            <a:ext cx="5053420" cy="36368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6FB551-51B3-469D-06A1-BB2061777A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799" y="1433945"/>
            <a:ext cx="5053420" cy="363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214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6CE6B6-382F-7FB0-DCFF-C8B74827C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523423"/>
            <a:ext cx="7772400" cy="40697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E9BBDC-BB6C-BE35-39AC-A1AF9A60CF4A}"/>
              </a:ext>
            </a:extLst>
          </p:cNvPr>
          <p:cNvSpPr txBox="1"/>
          <p:nvPr/>
        </p:nvSpPr>
        <p:spPr>
          <a:xfrm>
            <a:off x="1691120" y="433592"/>
            <a:ext cx="101233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4000" b="1" dirty="0">
                <a:solidFill>
                  <a:schemeClr val="accent1"/>
                </a:solidFill>
              </a:rPr>
              <a:t>Part 1 Results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3058778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CA1A-A159-C169-69CF-31CED5AC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9570" y="540982"/>
            <a:ext cx="8911687" cy="87015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6F283-F30E-CA45-BE06-73021E2C2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573" y="1540189"/>
            <a:ext cx="8915400" cy="3777622"/>
          </a:xfrm>
        </p:spPr>
        <p:txBody>
          <a:bodyPr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-US" sz="2000" b="1" dirty="0">
                <a:latin typeface="Aptos" panose="020B0004020202020204" pitchFamily="34" charset="0"/>
              </a:rPr>
              <a:t>Part 1(Default Parameters)</a:t>
            </a:r>
          </a:p>
          <a:p>
            <a:pPr marL="457200" lvl="0" indent="-323532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495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quadratic discriminant analysis(</a:t>
            </a:r>
            <a:r>
              <a:rPr lang="en-US" sz="2000" dirty="0" err="1">
                <a:latin typeface="Aptos" panose="020B0004020202020204" pitchFamily="34" charset="0"/>
              </a:rPr>
              <a:t>qda</a:t>
            </a:r>
            <a:r>
              <a:rPr lang="en-US" sz="2000" dirty="0">
                <a:latin typeface="Aptos" panose="020B0004020202020204" pitchFamily="34" charset="0"/>
              </a:rPr>
              <a:t>) model and </a:t>
            </a:r>
            <a:r>
              <a:rPr lang="en-US" sz="2000" dirty="0">
                <a:solidFill>
                  <a:srgbClr val="1A1919"/>
                </a:solidFill>
                <a:latin typeface="Aptos" panose="020B0004020202020204" pitchFamily="34" charset="0"/>
              </a:rPr>
              <a:t>decision tree models </a:t>
            </a:r>
            <a:r>
              <a:rPr lang="en-US" sz="2000" dirty="0">
                <a:latin typeface="Aptos" panose="020B0004020202020204" pitchFamily="34" charset="0"/>
              </a:rPr>
              <a:t>(</a:t>
            </a:r>
            <a:r>
              <a:rPr lang="en-US" sz="2000" dirty="0" err="1">
                <a:latin typeface="Aptos" panose="020B0004020202020204" pitchFamily="34" charset="0"/>
              </a:rPr>
              <a:t>bsnsing</a:t>
            </a:r>
            <a:r>
              <a:rPr lang="en-US" sz="2000" dirty="0">
                <a:latin typeface="Aptos" panose="020B0004020202020204" pitchFamily="34" charset="0"/>
              </a:rPr>
              <a:t>, </a:t>
            </a:r>
            <a:r>
              <a:rPr lang="en-US" sz="2000" dirty="0" err="1">
                <a:latin typeface="Aptos" panose="020B0004020202020204" pitchFamily="34" charset="0"/>
              </a:rPr>
              <a:t>randomForest</a:t>
            </a:r>
            <a:r>
              <a:rPr lang="en-US" sz="2000" dirty="0">
                <a:latin typeface="Aptos" panose="020B0004020202020204" pitchFamily="34" charset="0"/>
              </a:rPr>
              <a:t>) performed the best in regards to AUC and Accuracy, but had high training times that increased greatly with dataset size</a:t>
            </a:r>
          </a:p>
          <a:p>
            <a:pPr marL="457200" lvl="0" indent="-32353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95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most methods had AUC and Accuracy close to each other for a given dataset, </a:t>
            </a:r>
            <a:r>
              <a:rPr lang="en-US" sz="2000" b="1" dirty="0">
                <a:latin typeface="Aptos" panose="020B0004020202020204" pitchFamily="34" charset="0"/>
              </a:rPr>
              <a:t>the largest variations in performance were between datasets</a:t>
            </a: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endParaRPr lang="en-US" sz="2000" dirty="0">
              <a:latin typeface="Aptos" panose="020B0004020202020204" pitchFamily="34" charset="0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rPr lang="en-US" sz="2000" b="1" dirty="0">
                <a:latin typeface="Aptos" panose="020B0004020202020204" pitchFamily="34" charset="0"/>
              </a:rPr>
              <a:t>Part 2 (Forward Selection)</a:t>
            </a:r>
          </a:p>
          <a:p>
            <a:pPr>
              <a:lnSpc>
                <a:spcPct val="80000"/>
              </a:lnSpc>
              <a:buSzPts val="852"/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Many methods had similar AUC and Accuracy to each other, </a:t>
            </a:r>
            <a:r>
              <a:rPr lang="en-US" sz="2000" b="1" dirty="0">
                <a:latin typeface="Aptos" panose="020B0004020202020204" pitchFamily="34" charset="0"/>
              </a:rPr>
              <a:t>despite the forward selection resulting in a different mix of predictors per model</a:t>
            </a:r>
            <a:endParaRPr lang="en-US" sz="2000" dirty="0">
              <a:latin typeface="Aptos" panose="020B0004020202020204" pitchFamily="34" charset="0"/>
            </a:endParaRPr>
          </a:p>
          <a:p>
            <a:pPr marL="457200" lvl="0" indent="-37274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7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Tree-based methods were still overall the best</a:t>
            </a:r>
          </a:p>
          <a:p>
            <a:pPr marL="457200" lvl="0" indent="-37274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7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Models trained on selected parameters were similar in performance to models from Part 1</a:t>
            </a:r>
          </a:p>
          <a:p>
            <a:pPr marL="457200" lvl="0" indent="-37274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7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A random seed was used for the train test split; </a:t>
            </a:r>
            <a:r>
              <a:rPr lang="en-US" sz="2000" b="1" dirty="0">
                <a:latin typeface="Aptos" panose="020B0004020202020204" pitchFamily="34" charset="0"/>
              </a:rPr>
              <a:t>a different random seed could result in different predictors and thus different model performance</a:t>
            </a: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endParaRPr lang="en-US" sz="2000" dirty="0">
              <a:latin typeface="Aptos" panose="020B0004020202020204" pitchFamily="34" charset="0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endParaRPr lang="en-US" sz="2000" dirty="0">
              <a:latin typeface="Aptos" panose="020B0004020202020204" pitchFamily="34" charset="0"/>
            </a:endParaRPr>
          </a:p>
          <a:p>
            <a:endParaRPr lang="en-US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78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5F19F-A643-5C83-8949-B1844D6C3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1"/>
                </a:solidFill>
              </a:rPr>
              <a:t>References</a:t>
            </a:r>
            <a:br>
              <a:rPr lang="en-US" sz="3600" b="1" dirty="0">
                <a:solidFill>
                  <a:schemeClr val="accent1"/>
                </a:solidFill>
              </a:rPr>
            </a:b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Google Shape;299;g1b4e536ebeb_0_8">
            <a:extLst>
              <a:ext uri="{FF2B5EF4-FFF2-40B4-BE49-F238E27FC236}">
                <a16:creationId xmlns:a16="http://schemas.microsoft.com/office/drawing/2014/main" id="{072DEB37-A979-0D21-C550-F050B26BF227}"/>
              </a:ext>
            </a:extLst>
          </p:cNvPr>
          <p:cNvSpPr txBox="1"/>
          <p:nvPr/>
        </p:nvSpPr>
        <p:spPr>
          <a:xfrm>
            <a:off x="2592925" y="1660452"/>
            <a:ext cx="7635300" cy="4904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2000" dirty="0">
                <a:solidFill>
                  <a:srgbClr val="1A1919"/>
                </a:solidFill>
              </a:rPr>
              <a:t>James, G., Witten, D., Hastie, T., &amp; </a:t>
            </a:r>
            <a:r>
              <a:rPr lang="en-US" sz="2000" dirty="0" err="1">
                <a:solidFill>
                  <a:srgbClr val="1A1919"/>
                </a:solidFill>
              </a:rPr>
              <a:t>Tibshirani</a:t>
            </a:r>
            <a:r>
              <a:rPr lang="en-US" sz="2000" dirty="0">
                <a:solidFill>
                  <a:srgbClr val="1A1919"/>
                </a:solidFill>
              </a:rPr>
              <a:t>, R. (2013). </a:t>
            </a:r>
            <a:r>
              <a:rPr lang="en-US" sz="2000" i="1" dirty="0">
                <a:solidFill>
                  <a:srgbClr val="1A1919"/>
                </a:solidFill>
              </a:rPr>
              <a:t>An introduction to statistical learning with applications in R</a:t>
            </a:r>
            <a:r>
              <a:rPr lang="en-US" sz="2000" dirty="0">
                <a:solidFill>
                  <a:srgbClr val="1A1919"/>
                </a:solidFill>
              </a:rPr>
              <a:t>. Springer. </a:t>
            </a:r>
            <a:endParaRPr sz="2000" dirty="0">
              <a:solidFill>
                <a:srgbClr val="1A1919"/>
              </a:solidFill>
            </a:endParaRPr>
          </a:p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r>
              <a:rPr lang="en-US" sz="2000" dirty="0">
                <a:solidFill>
                  <a:schemeClr val="dk1"/>
                </a:solidFill>
              </a:rPr>
              <a:t>2. </a:t>
            </a:r>
            <a:r>
              <a:rPr lang="en-US" sz="2000" dirty="0">
                <a:solidFill>
                  <a:schemeClr val="dk1"/>
                </a:solidFill>
                <a:hlinkClick r:id="rId2"/>
              </a:rPr>
              <a:t>https://cran.r-project.org/web/packages/available_packages_by_name.html</a:t>
            </a:r>
            <a:endParaRPr lang="en-US" sz="2000" dirty="0">
              <a:solidFill>
                <a:schemeClr val="dk1"/>
              </a:solidFill>
            </a:endParaRPr>
          </a:p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r>
              <a:rPr lang="en-US" sz="2000" dirty="0">
                <a:solidFill>
                  <a:schemeClr val="dk1"/>
                </a:solidFill>
              </a:rPr>
              <a:t>3. </a:t>
            </a:r>
            <a:r>
              <a:rPr lang="en-US" sz="2000" dirty="0">
                <a:solidFill>
                  <a:schemeClr val="dk1"/>
                </a:solidFill>
                <a:hlinkClick r:id="rId3"/>
              </a:rPr>
              <a:t>https://cran.r-project.org/web/packages/lda/index.html</a:t>
            </a:r>
            <a:endParaRPr lang="en-US" sz="2000" dirty="0">
              <a:solidFill>
                <a:schemeClr val="dk1"/>
              </a:solidFill>
            </a:endParaRPr>
          </a:p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r>
              <a:rPr lang="en-US" sz="2000" dirty="0">
                <a:solidFill>
                  <a:schemeClr val="dk1"/>
                </a:solidFill>
              </a:rPr>
              <a:t>4. </a:t>
            </a:r>
            <a:r>
              <a:rPr lang="en-US" sz="2000" dirty="0">
                <a:solidFill>
                  <a:schemeClr val="dk1"/>
                </a:solidFill>
                <a:hlinkClick r:id="rId4"/>
              </a:rPr>
              <a:t>https://rdrr.io/cran/MASS/man/qda.html</a:t>
            </a:r>
            <a:endParaRPr lang="en-US" sz="2000" dirty="0">
              <a:solidFill>
                <a:schemeClr val="dk1"/>
              </a:solidFill>
            </a:endParaRPr>
          </a:p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r>
              <a:rPr lang="en-US" sz="2000" dirty="0">
                <a:solidFill>
                  <a:schemeClr val="dk1"/>
                </a:solidFill>
              </a:rPr>
              <a:t>5. </a:t>
            </a:r>
            <a:r>
              <a:rPr lang="en-US" sz="2000" dirty="0">
                <a:solidFill>
                  <a:schemeClr val="dk1"/>
                </a:solidFill>
                <a:hlinkClick r:id="rId5"/>
              </a:rPr>
              <a:t>https://cran.r-project.org/web/packages/e1071/vignettes/svmdoc.pdf</a:t>
            </a:r>
            <a:endParaRPr lang="en-US" sz="2000" dirty="0">
              <a:solidFill>
                <a:schemeClr val="dk1"/>
              </a:solidFill>
            </a:endParaRPr>
          </a:p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r>
              <a:rPr lang="en-US" sz="2000" dirty="0">
                <a:solidFill>
                  <a:schemeClr val="dk1"/>
                </a:solidFill>
              </a:rPr>
              <a:t>6. </a:t>
            </a:r>
            <a:r>
              <a:rPr lang="en-US" sz="2000" dirty="0">
                <a:solidFill>
                  <a:schemeClr val="dk1"/>
                </a:solidFill>
                <a:hlinkClick r:id="rId6"/>
              </a:rPr>
              <a:t>https://cran.r-project.org/web/packages/naivebayes/index.html</a:t>
            </a:r>
            <a:endParaRPr lang="en-US" sz="2000" dirty="0">
              <a:solidFill>
                <a:schemeClr val="dk1"/>
              </a:solidFill>
            </a:endParaRPr>
          </a:p>
          <a:p>
            <a:pPr marL="1206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lang="en-US" sz="2000" dirty="0">
              <a:solidFill>
                <a:schemeClr val="dk1"/>
              </a:solidFill>
            </a:endParaRPr>
          </a:p>
        </p:txBody>
      </p:sp>
      <p:sp>
        <p:nvSpPr>
          <p:cNvPr id="5" name="Google Shape;300;g1b4e536ebeb_0_8">
            <a:extLst>
              <a:ext uri="{FF2B5EF4-FFF2-40B4-BE49-F238E27FC236}">
                <a16:creationId xmlns:a16="http://schemas.microsoft.com/office/drawing/2014/main" id="{8B369121-365C-C0E3-E832-D5D4EEED7B20}"/>
              </a:ext>
            </a:extLst>
          </p:cNvPr>
          <p:cNvSpPr txBox="1">
            <a:spLocks/>
          </p:cNvSpPr>
          <p:nvPr/>
        </p:nvSpPr>
        <p:spPr>
          <a:xfrm>
            <a:off x="697250" y="0"/>
            <a:ext cx="10515600" cy="13257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</a:pPr>
            <a:endParaRPr lang="en-US" sz="3700" dirty="0"/>
          </a:p>
        </p:txBody>
      </p:sp>
    </p:spTree>
    <p:extLst>
      <p:ext uri="{BB962C8B-B14F-4D97-AF65-F5344CB8AC3E}">
        <p14:creationId xmlns:p14="http://schemas.microsoft.com/office/powerpoint/2010/main" val="45553926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608</TotalTime>
  <Words>1280</Words>
  <Application>Microsoft Office PowerPoint</Application>
  <PresentationFormat>Widescreen</PresentationFormat>
  <Paragraphs>229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Century Gothic</vt:lpstr>
      <vt:lpstr>Wingdings</vt:lpstr>
      <vt:lpstr>Wingdings 3</vt:lpstr>
      <vt:lpstr>Wisp</vt:lpstr>
      <vt:lpstr>DSA 6000  Project Classification Model Benchmarking Group 7</vt:lpstr>
      <vt:lpstr>Overview:</vt:lpstr>
      <vt:lpstr>Background:</vt:lpstr>
      <vt:lpstr>Datasets.</vt:lpstr>
      <vt:lpstr>PowerPoint Presentation</vt:lpstr>
      <vt:lpstr>Models:</vt:lpstr>
      <vt:lpstr>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1 Results &amp; Discussion</vt:lpstr>
      <vt:lpstr>Part 2 Results &amp; Discussion</vt:lpstr>
      <vt:lpstr>PowerPoint Presentation</vt:lpstr>
      <vt:lpstr>Part 1 Results &amp; Discussion</vt:lpstr>
      <vt:lpstr>PowerPoint Presentation</vt:lpstr>
      <vt:lpstr>PowerPoint Presentation</vt:lpstr>
      <vt:lpstr>Conclusion: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Arpit Awathe</dc:creator>
  <cp:lastModifiedBy>Dinesh Arasavalli</cp:lastModifiedBy>
  <cp:revision>240</cp:revision>
  <dcterms:created xsi:type="dcterms:W3CDTF">2021-12-09T17:21:24Z</dcterms:created>
  <dcterms:modified xsi:type="dcterms:W3CDTF">2025-11-11T19:49:11Z</dcterms:modified>
</cp:coreProperties>
</file>